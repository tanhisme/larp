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Agrandir Grand Bold" panose="020B0604020202020204" charset="0"/>
      <p:regular r:id="rId18"/>
    </p:embeddedFont>
    <p:embeddedFont>
      <p:font typeface="Agrandir Grand Medium" panose="020B0604020202020204" charset="0"/>
      <p:regular r:id="rId19"/>
    </p:embeddedFont>
    <p:embeddedFont>
      <p:font typeface="Anton" pitchFamily="2" charset="0"/>
      <p:regular r:id="rId20"/>
    </p:embeddedFont>
    <p:embeddedFont>
      <p:font typeface="Anton SC" panose="020B0604020202020204" charset="0"/>
      <p:regular r:id="rId21"/>
    </p:embeddedFont>
    <p:embeddedFont>
      <p:font typeface="Baloo"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0" d="100"/>
          <a:sy n="40" d="100"/>
        </p:scale>
        <p:origin x="708"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gif"/></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9.gif"/><Relationship Id="rId1" Type="http://schemas.openxmlformats.org/officeDocument/2006/relationships/slideLayout" Target="../slideLayouts/slideLayout7.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a:off x="1028700" y="5679641"/>
            <a:ext cx="6492240" cy="0"/>
          </a:xfrm>
          <a:prstGeom prst="line">
            <a:avLst/>
          </a:prstGeom>
          <a:ln w="9525" cap="flat">
            <a:solidFill>
              <a:srgbClr val="000000"/>
            </a:solidFill>
            <a:prstDash val="solid"/>
            <a:headEnd type="none" w="sm" len="sm"/>
            <a:tailEnd type="none" w="sm" len="sm"/>
          </a:ln>
        </p:spPr>
        <p:txBody>
          <a:bodyPr/>
          <a:lstStyle/>
          <a:p>
            <a:endParaRPr lang="en-US"/>
          </a:p>
        </p:txBody>
      </p:sp>
      <p:sp>
        <p:nvSpPr>
          <p:cNvPr id="3" name="AutoShape 3"/>
          <p:cNvSpPr/>
          <p:nvPr/>
        </p:nvSpPr>
        <p:spPr>
          <a:xfrm>
            <a:off x="6595804" y="7250145"/>
            <a:ext cx="10663496" cy="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12891654" y="6397181"/>
            <a:ext cx="4367646" cy="460588"/>
          </a:xfrm>
          <a:custGeom>
            <a:avLst/>
            <a:gdLst/>
            <a:ahLst/>
            <a:cxnLst/>
            <a:rect l="l" t="t" r="r" b="b"/>
            <a:pathLst>
              <a:path w="4367646" h="460588">
                <a:moveTo>
                  <a:pt x="0" y="0"/>
                </a:moveTo>
                <a:lnTo>
                  <a:pt x="4367646" y="0"/>
                </a:lnTo>
                <a:lnTo>
                  <a:pt x="4367646" y="460588"/>
                </a:lnTo>
                <a:lnTo>
                  <a:pt x="0" y="4605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flipH="1">
            <a:off x="1028700" y="4880909"/>
            <a:ext cx="4367646" cy="460588"/>
          </a:xfrm>
          <a:custGeom>
            <a:avLst/>
            <a:gdLst/>
            <a:ahLst/>
            <a:cxnLst/>
            <a:rect l="l" t="t" r="r" b="b"/>
            <a:pathLst>
              <a:path w="4367646" h="460588">
                <a:moveTo>
                  <a:pt x="4367646" y="0"/>
                </a:moveTo>
                <a:lnTo>
                  <a:pt x="0" y="0"/>
                </a:lnTo>
                <a:lnTo>
                  <a:pt x="0" y="460589"/>
                </a:lnTo>
                <a:lnTo>
                  <a:pt x="4367646" y="460589"/>
                </a:lnTo>
                <a:lnTo>
                  <a:pt x="436764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rot="-10800000">
            <a:off x="17015295" y="1028700"/>
            <a:ext cx="244005" cy="189437"/>
          </a:xfrm>
          <a:custGeom>
            <a:avLst/>
            <a:gdLst/>
            <a:ahLst/>
            <a:cxnLst/>
            <a:rect l="l" t="t" r="r" b="b"/>
            <a:pathLst>
              <a:path w="244005" h="189437">
                <a:moveTo>
                  <a:pt x="0" y="0"/>
                </a:moveTo>
                <a:lnTo>
                  <a:pt x="244005" y="0"/>
                </a:lnTo>
                <a:lnTo>
                  <a:pt x="244005" y="189437"/>
                </a:lnTo>
                <a:lnTo>
                  <a:pt x="0" y="18943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rot="-10800000" flipH="1">
            <a:off x="1028700" y="1028700"/>
            <a:ext cx="244005" cy="189437"/>
          </a:xfrm>
          <a:custGeom>
            <a:avLst/>
            <a:gdLst/>
            <a:ahLst/>
            <a:cxnLst/>
            <a:rect l="l" t="t" r="r" b="b"/>
            <a:pathLst>
              <a:path w="244005" h="189437">
                <a:moveTo>
                  <a:pt x="244005" y="0"/>
                </a:moveTo>
                <a:lnTo>
                  <a:pt x="0" y="0"/>
                </a:lnTo>
                <a:lnTo>
                  <a:pt x="0" y="189437"/>
                </a:lnTo>
                <a:lnTo>
                  <a:pt x="244005" y="189437"/>
                </a:lnTo>
                <a:lnTo>
                  <a:pt x="2440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TextBox 8"/>
          <p:cNvSpPr txBox="1"/>
          <p:nvPr/>
        </p:nvSpPr>
        <p:spPr>
          <a:xfrm>
            <a:off x="769640" y="1619376"/>
            <a:ext cx="16748719" cy="2328545"/>
          </a:xfrm>
          <a:prstGeom prst="rect">
            <a:avLst/>
          </a:prstGeom>
        </p:spPr>
        <p:txBody>
          <a:bodyPr lIns="0" tIns="0" rIns="0" bIns="0" rtlCol="0" anchor="t">
            <a:spAutoFit/>
          </a:bodyPr>
          <a:lstStyle/>
          <a:p>
            <a:pPr algn="l">
              <a:lnSpc>
                <a:spcPts val="8680"/>
              </a:lnSpc>
              <a:spcBef>
                <a:spcPct val="0"/>
              </a:spcBef>
            </a:pPr>
            <a:r>
              <a:rPr lang="en-US" sz="6200" b="1">
                <a:solidFill>
                  <a:srgbClr val="000000"/>
                </a:solidFill>
                <a:latin typeface="Agrandir Grand Bold"/>
                <a:ea typeface="Agrandir Grand Bold"/>
                <a:cs typeface="Agrandir Grand Bold"/>
                <a:sym typeface="Agrandir Grand Bold"/>
              </a:rPr>
              <a:t>BÁO CÁO VỀ SẢN PHẨM MÔ HÌNH </a:t>
            </a:r>
            <a:r>
              <a:rPr lang="en-US" sz="6200" b="1">
                <a:solidFill>
                  <a:srgbClr val="ED0000"/>
                </a:solidFill>
                <a:latin typeface="Agrandir Grand Bold"/>
                <a:ea typeface="Agrandir Grand Bold"/>
                <a:cs typeface="Agrandir Grand Bold"/>
                <a:sym typeface="Agrandir Grand Bold"/>
              </a:rPr>
              <a:t>DNA/RNA TÁI CHẾ</a:t>
            </a:r>
          </a:p>
        </p:txBody>
      </p:sp>
      <p:sp>
        <p:nvSpPr>
          <p:cNvPr id="9" name="TextBox 9"/>
          <p:cNvSpPr txBox="1"/>
          <p:nvPr/>
        </p:nvSpPr>
        <p:spPr>
          <a:xfrm>
            <a:off x="1028700" y="5817278"/>
            <a:ext cx="2438166" cy="302276"/>
          </a:xfrm>
          <a:prstGeom prst="rect">
            <a:avLst/>
          </a:prstGeom>
        </p:spPr>
        <p:txBody>
          <a:bodyPr lIns="0" tIns="0" rIns="0" bIns="0" rtlCol="0" anchor="t">
            <a:spAutoFit/>
          </a:bodyPr>
          <a:lstStyle/>
          <a:p>
            <a:pPr algn="l">
              <a:lnSpc>
                <a:spcPts val="2240"/>
              </a:lnSpc>
              <a:spcBef>
                <a:spcPct val="0"/>
              </a:spcBef>
            </a:pPr>
            <a:r>
              <a:rPr lang="en-US" sz="1600" b="1">
                <a:solidFill>
                  <a:srgbClr val="000000"/>
                </a:solidFill>
                <a:latin typeface="Agrandir Grand Medium"/>
                <a:ea typeface="Agrandir Grand Medium"/>
                <a:cs typeface="Agrandir Grand Medium"/>
                <a:sym typeface="Agrandir Grand Medium"/>
              </a:rPr>
              <a:t>PRESENTATION</a:t>
            </a:r>
          </a:p>
        </p:txBody>
      </p:sp>
      <p:sp>
        <p:nvSpPr>
          <p:cNvPr id="10" name="Freeform 10"/>
          <p:cNvSpPr/>
          <p:nvPr/>
        </p:nvSpPr>
        <p:spPr>
          <a:xfrm rot="-153336">
            <a:off x="3313286" y="4179104"/>
            <a:ext cx="10475579" cy="4753294"/>
          </a:xfrm>
          <a:custGeom>
            <a:avLst/>
            <a:gdLst/>
            <a:ahLst/>
            <a:cxnLst/>
            <a:rect l="l" t="t" r="r" b="b"/>
            <a:pathLst>
              <a:path w="10475579" h="4753294">
                <a:moveTo>
                  <a:pt x="0" y="0"/>
                </a:moveTo>
                <a:lnTo>
                  <a:pt x="10475579" y="0"/>
                </a:lnTo>
                <a:lnTo>
                  <a:pt x="10475579" y="4753294"/>
                </a:lnTo>
                <a:lnTo>
                  <a:pt x="0" y="4753294"/>
                </a:lnTo>
                <a:lnTo>
                  <a:pt x="0" y="0"/>
                </a:lnTo>
                <a:close/>
              </a:path>
            </a:pathLst>
          </a:custGeom>
          <a:blipFill>
            <a:blip r:embed="rId4"/>
            <a:stretch>
              <a:fillRect/>
            </a:stretch>
          </a:blipFill>
        </p:spPr>
        <p:txBody>
          <a:bodyPr/>
          <a:lstStyle/>
          <a:p>
            <a:endParaRPr lang="en-US"/>
          </a:p>
        </p:txBody>
      </p:sp>
      <p:sp>
        <p:nvSpPr>
          <p:cNvPr id="11" name="Freeform 11"/>
          <p:cNvSpPr/>
          <p:nvPr/>
        </p:nvSpPr>
        <p:spPr>
          <a:xfrm>
            <a:off x="-691114" y="6452929"/>
            <a:ext cx="2921508" cy="4114800"/>
          </a:xfrm>
          <a:custGeom>
            <a:avLst/>
            <a:gdLst/>
            <a:ahLst/>
            <a:cxnLst/>
            <a:rect l="l" t="t" r="r" b="b"/>
            <a:pathLst>
              <a:path w="2921508" h="4114800">
                <a:moveTo>
                  <a:pt x="0" y="0"/>
                </a:moveTo>
                <a:lnTo>
                  <a:pt x="2921508" y="0"/>
                </a:lnTo>
                <a:lnTo>
                  <a:pt x="292150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rot="672572">
            <a:off x="16375635" y="1310587"/>
            <a:ext cx="5656480" cy="5274668"/>
          </a:xfrm>
          <a:custGeom>
            <a:avLst/>
            <a:gdLst/>
            <a:ahLst/>
            <a:cxnLst/>
            <a:rect l="l" t="t" r="r" b="b"/>
            <a:pathLst>
              <a:path w="5656480" h="5274668">
                <a:moveTo>
                  <a:pt x="0" y="0"/>
                </a:moveTo>
                <a:lnTo>
                  <a:pt x="5656481" y="0"/>
                </a:lnTo>
                <a:lnTo>
                  <a:pt x="5656481" y="5274668"/>
                </a:lnTo>
                <a:lnTo>
                  <a:pt x="0" y="5274668"/>
                </a:lnTo>
                <a:lnTo>
                  <a:pt x="0" y="0"/>
                </a:lnTo>
                <a:close/>
              </a:path>
            </a:pathLst>
          </a:custGeom>
          <a:blipFill>
            <a:blip>
              <a:alphaModFix amt="5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a:off x="15348829" y="8080528"/>
            <a:ext cx="3332932" cy="2487201"/>
          </a:xfrm>
          <a:custGeom>
            <a:avLst/>
            <a:gdLst/>
            <a:ahLst/>
            <a:cxnLst/>
            <a:rect l="l" t="t" r="r" b="b"/>
            <a:pathLst>
              <a:path w="3332932" h="2487201">
                <a:moveTo>
                  <a:pt x="0" y="0"/>
                </a:moveTo>
                <a:lnTo>
                  <a:pt x="3332932" y="0"/>
                </a:lnTo>
                <a:lnTo>
                  <a:pt x="3332932" y="2487201"/>
                </a:lnTo>
                <a:lnTo>
                  <a:pt x="0" y="2487201"/>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Freeform 2"/>
          <p:cNvSpPr/>
          <p:nvPr/>
        </p:nvSpPr>
        <p:spPr>
          <a:xfrm flipH="1">
            <a:off x="17015295" y="9068863"/>
            <a:ext cx="244005" cy="189437"/>
          </a:xfrm>
          <a:custGeom>
            <a:avLst/>
            <a:gdLst/>
            <a:ahLst/>
            <a:cxnLst/>
            <a:rect l="l" t="t" r="r" b="b"/>
            <a:pathLst>
              <a:path w="244005" h="189437">
                <a:moveTo>
                  <a:pt x="244005" y="0"/>
                </a:moveTo>
                <a:lnTo>
                  <a:pt x="0" y="0"/>
                </a:lnTo>
                <a:lnTo>
                  <a:pt x="0" y="189437"/>
                </a:lnTo>
                <a:lnTo>
                  <a:pt x="244005" y="189437"/>
                </a:lnTo>
                <a:lnTo>
                  <a:pt x="244005"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4837475" y="297950"/>
            <a:ext cx="8613049" cy="1606549"/>
          </a:xfrm>
          <a:prstGeom prst="rect">
            <a:avLst/>
          </a:prstGeom>
        </p:spPr>
        <p:txBody>
          <a:bodyPr lIns="0" tIns="0" rIns="0" bIns="0" rtlCol="0" anchor="t">
            <a:spAutoFit/>
          </a:bodyPr>
          <a:lstStyle/>
          <a:p>
            <a:pPr algn="l">
              <a:lnSpc>
                <a:spcPts val="11200"/>
              </a:lnSpc>
              <a:spcBef>
                <a:spcPct val="0"/>
              </a:spcBef>
            </a:pPr>
            <a:r>
              <a:rPr lang="en-US" sz="8000" b="1">
                <a:gradFill>
                  <a:gsLst>
                    <a:gs pos="0">
                      <a:srgbClr val="FF3131">
                        <a:alpha val="100000"/>
                      </a:srgbClr>
                    </a:gs>
                    <a:gs pos="100000">
                      <a:srgbClr val="FF914D">
                        <a:alpha val="100000"/>
                      </a:srgbClr>
                    </a:gs>
                  </a:gsLst>
                  <a:lin ang="0"/>
                </a:gradFill>
                <a:latin typeface="Agrandir Grand Bold"/>
                <a:ea typeface="Agrandir Grand Bold"/>
                <a:cs typeface="Agrandir Grand Bold"/>
                <a:sym typeface="Agrandir Grand Bold"/>
              </a:rPr>
              <a:t>PHÂN CÔNG</a:t>
            </a:r>
          </a:p>
        </p:txBody>
      </p:sp>
      <p:sp>
        <p:nvSpPr>
          <p:cNvPr id="4" name="AutoShape 4"/>
          <p:cNvSpPr/>
          <p:nvPr/>
        </p:nvSpPr>
        <p:spPr>
          <a:xfrm flipV="1">
            <a:off x="0" y="1904500"/>
            <a:ext cx="16230600" cy="0"/>
          </a:xfrm>
          <a:prstGeom prst="line">
            <a:avLst/>
          </a:prstGeom>
          <a:ln w="9525" cap="flat">
            <a:solidFill>
              <a:srgbClr val="000000"/>
            </a:solidFill>
            <a:prstDash val="solid"/>
            <a:headEnd type="none" w="sm" len="sm"/>
            <a:tailEnd type="none" w="sm" len="sm"/>
          </a:ln>
        </p:spPr>
        <p:txBody>
          <a:bodyPr/>
          <a:lstStyle/>
          <a:p>
            <a:endParaRPr lang="en-US"/>
          </a:p>
        </p:txBody>
      </p:sp>
      <p:sp>
        <p:nvSpPr>
          <p:cNvPr id="5" name="Freeform 5"/>
          <p:cNvSpPr/>
          <p:nvPr/>
        </p:nvSpPr>
        <p:spPr>
          <a:xfrm>
            <a:off x="14113174" y="-2557709"/>
            <a:ext cx="7156962" cy="5600323"/>
          </a:xfrm>
          <a:custGeom>
            <a:avLst/>
            <a:gdLst/>
            <a:ahLst/>
            <a:cxnLst/>
            <a:rect l="l" t="t" r="r" b="b"/>
            <a:pathLst>
              <a:path w="7156962" h="5600323">
                <a:moveTo>
                  <a:pt x="0" y="0"/>
                </a:moveTo>
                <a:lnTo>
                  <a:pt x="7156962" y="0"/>
                </a:lnTo>
                <a:lnTo>
                  <a:pt x="7156962" y="5600323"/>
                </a:lnTo>
                <a:lnTo>
                  <a:pt x="0" y="5600323"/>
                </a:lnTo>
                <a:lnTo>
                  <a:pt x="0" y="0"/>
                </a:lnTo>
                <a:close/>
              </a:path>
            </a:pathLst>
          </a:custGeom>
          <a:blipFill>
            <a:blip r:embed="rId3"/>
            <a:stretch>
              <a:fillRect/>
            </a:stretch>
          </a:blipFill>
        </p:spPr>
        <p:txBody>
          <a:bodyPr/>
          <a:lstStyle/>
          <a:p>
            <a:endParaRPr lang="en-US"/>
          </a:p>
        </p:txBody>
      </p:sp>
      <p:sp>
        <p:nvSpPr>
          <p:cNvPr id="6" name="TextBox 6"/>
          <p:cNvSpPr txBox="1"/>
          <p:nvPr/>
        </p:nvSpPr>
        <p:spPr>
          <a:xfrm>
            <a:off x="297464" y="3109289"/>
            <a:ext cx="17990536" cy="5001369"/>
          </a:xfrm>
          <a:prstGeom prst="rect">
            <a:avLst/>
          </a:prstGeom>
        </p:spPr>
        <p:txBody>
          <a:bodyPr lIns="0" tIns="0" rIns="0" bIns="0" rtlCol="0" anchor="t">
            <a:spAutoFit/>
          </a:bodyPr>
          <a:lstStyle/>
          <a:p>
            <a:pPr algn="l">
              <a:lnSpc>
                <a:spcPts val="7840"/>
              </a:lnSpc>
            </a:pPr>
            <a:r>
              <a:rPr lang="en-US" sz="5600" dirty="0">
                <a:solidFill>
                  <a:srgbClr val="009D3A"/>
                </a:solidFill>
                <a:latin typeface="Anton SC"/>
                <a:ea typeface="Anton SC"/>
                <a:cs typeface="Anton SC"/>
                <a:sym typeface="Anton SC"/>
              </a:rPr>
              <a:t>Anh Huy, Tuấn Anh:</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chuẩn</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bị</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que</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kem</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bìa</a:t>
            </a:r>
            <a:r>
              <a:rPr lang="en-US" sz="5600" dirty="0">
                <a:solidFill>
                  <a:srgbClr val="000000"/>
                </a:solidFill>
                <a:latin typeface="Anton SC"/>
                <a:ea typeface="Anton SC"/>
                <a:cs typeface="Anton SC"/>
                <a:sym typeface="Anton SC"/>
              </a:rPr>
              <a:t> carton, </a:t>
            </a:r>
            <a:r>
              <a:rPr lang="en-US" sz="5600" dirty="0" err="1">
                <a:solidFill>
                  <a:srgbClr val="000000"/>
                </a:solidFill>
                <a:latin typeface="Anton SC"/>
                <a:ea typeface="Anton SC"/>
                <a:cs typeface="Anton SC"/>
                <a:sym typeface="Anton SC"/>
              </a:rPr>
              <a:t>làm</a:t>
            </a:r>
            <a:r>
              <a:rPr lang="en-US" sz="5600" dirty="0">
                <a:solidFill>
                  <a:srgbClr val="000000"/>
                </a:solidFill>
                <a:latin typeface="Anton SC"/>
                <a:ea typeface="Anton SC"/>
                <a:cs typeface="Anton SC"/>
                <a:sym typeface="Anton SC"/>
              </a:rPr>
              <a:t> slide ppt</a:t>
            </a:r>
          </a:p>
          <a:p>
            <a:pPr algn="l">
              <a:lnSpc>
                <a:spcPts val="7840"/>
              </a:lnSpc>
            </a:pPr>
            <a:endParaRPr lang="en-US" sz="5600" dirty="0">
              <a:solidFill>
                <a:srgbClr val="000000"/>
              </a:solidFill>
              <a:latin typeface="Anton SC"/>
              <a:ea typeface="Anton SC"/>
              <a:cs typeface="Anton SC"/>
              <a:sym typeface="Anton SC"/>
            </a:endParaRPr>
          </a:p>
          <a:p>
            <a:pPr algn="l">
              <a:lnSpc>
                <a:spcPts val="7840"/>
              </a:lnSpc>
            </a:pPr>
            <a:r>
              <a:rPr lang="en-US" sz="5600" dirty="0">
                <a:solidFill>
                  <a:srgbClr val="2E03FF"/>
                </a:solidFill>
                <a:latin typeface="Anton SC"/>
                <a:ea typeface="Anton SC"/>
                <a:cs typeface="Anton SC"/>
                <a:sym typeface="Anton SC"/>
              </a:rPr>
              <a:t>Hải </a:t>
            </a:r>
            <a:r>
              <a:rPr lang="en-US" sz="5600" dirty="0" err="1">
                <a:solidFill>
                  <a:srgbClr val="2E03FF"/>
                </a:solidFill>
                <a:latin typeface="Anton SC"/>
                <a:ea typeface="Anton SC"/>
                <a:cs typeface="Anton SC"/>
                <a:sym typeface="Anton SC"/>
              </a:rPr>
              <a:t>Đăng</a:t>
            </a:r>
            <a:r>
              <a:rPr lang="en-US" sz="5600" dirty="0">
                <a:solidFill>
                  <a:srgbClr val="2E03FF"/>
                </a:solidFill>
                <a:latin typeface="Anton SC"/>
                <a:ea typeface="Anton SC"/>
                <a:cs typeface="Anton SC"/>
                <a:sym typeface="Anton SC"/>
              </a:rPr>
              <a:t>, Hoàng Quân:</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chuẩn</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bị</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đất</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sét</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kết</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nối</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các</a:t>
            </a:r>
            <a:r>
              <a:rPr lang="en-US" sz="5600" dirty="0">
                <a:solidFill>
                  <a:srgbClr val="000000"/>
                </a:solidFill>
                <a:latin typeface="Anton SC"/>
                <a:ea typeface="Anton SC"/>
                <a:cs typeface="Anton SC"/>
                <a:sym typeface="Anton SC"/>
              </a:rPr>
              <a:t> chi </a:t>
            </a:r>
            <a:r>
              <a:rPr lang="en-US" sz="5600" dirty="0" err="1">
                <a:solidFill>
                  <a:srgbClr val="000000"/>
                </a:solidFill>
                <a:latin typeface="Anton SC"/>
                <a:ea typeface="Anton SC"/>
                <a:cs typeface="Anton SC"/>
                <a:sym typeface="Anton SC"/>
              </a:rPr>
              <a:t>tiết</a:t>
            </a:r>
            <a:endParaRPr lang="en-US" sz="5600" dirty="0">
              <a:solidFill>
                <a:srgbClr val="000000"/>
              </a:solidFill>
              <a:latin typeface="Anton SC"/>
              <a:ea typeface="Anton SC"/>
              <a:cs typeface="Anton SC"/>
              <a:sym typeface="Anton SC"/>
            </a:endParaRPr>
          </a:p>
          <a:p>
            <a:pPr algn="l">
              <a:lnSpc>
                <a:spcPts val="7840"/>
              </a:lnSpc>
            </a:pPr>
            <a:endParaRPr lang="en-US" sz="5600" dirty="0">
              <a:solidFill>
                <a:srgbClr val="000000"/>
              </a:solidFill>
              <a:latin typeface="Anton SC"/>
              <a:ea typeface="Anton SC"/>
              <a:cs typeface="Anton SC"/>
              <a:sym typeface="Anton SC"/>
            </a:endParaRPr>
          </a:p>
          <a:p>
            <a:pPr algn="l">
              <a:lnSpc>
                <a:spcPts val="7840"/>
              </a:lnSpc>
              <a:spcBef>
                <a:spcPct val="0"/>
              </a:spcBef>
            </a:pPr>
            <a:r>
              <a:rPr lang="en-US" sz="5600" dirty="0">
                <a:solidFill>
                  <a:srgbClr val="BC01C6"/>
                </a:solidFill>
                <a:latin typeface="Anton SC"/>
                <a:ea typeface="Anton SC"/>
                <a:cs typeface="Anton SC"/>
                <a:sym typeface="Anton SC"/>
              </a:rPr>
              <a:t>Trung Hiếu, Tuấn Khang, Quốc Việt:</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làm</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trục</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nặng</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đất</a:t>
            </a:r>
            <a:r>
              <a:rPr lang="en-US" sz="5600" dirty="0">
                <a:solidFill>
                  <a:srgbClr val="000000"/>
                </a:solidFill>
                <a:latin typeface="Anton SC"/>
                <a:ea typeface="Anton SC"/>
                <a:cs typeface="Anton SC"/>
                <a:sym typeface="Anton SC"/>
              </a:rPr>
              <a:t> </a:t>
            </a:r>
            <a:r>
              <a:rPr lang="en-US" sz="5600" dirty="0" err="1">
                <a:solidFill>
                  <a:srgbClr val="000000"/>
                </a:solidFill>
                <a:latin typeface="Anton SC"/>
                <a:ea typeface="Anton SC"/>
                <a:cs typeface="Anton SC"/>
                <a:sym typeface="Anton SC"/>
              </a:rPr>
              <a:t>sét</a:t>
            </a:r>
            <a:endParaRPr lang="en-US" sz="5600" dirty="0">
              <a:solidFill>
                <a:srgbClr val="000000"/>
              </a:solidFill>
              <a:latin typeface="Anton SC"/>
              <a:ea typeface="Anton SC"/>
              <a:cs typeface="Anton SC"/>
              <a:sym typeface="Anton SC"/>
            </a:endParaRPr>
          </a:p>
        </p:txBody>
      </p:sp>
      <p:pic>
        <p:nvPicPr>
          <p:cNvPr id="7" name="Picture 7"/>
          <p:cNvPicPr>
            <a:picLocks noChangeAspect="1"/>
          </p:cNvPicPr>
          <p:nvPr/>
        </p:nvPicPr>
        <p:blipFill>
          <a:blip r:embed="rId4"/>
          <a:srcRect/>
          <a:stretch>
            <a:fillRect/>
          </a:stretch>
        </p:blipFill>
        <p:spPr>
          <a:xfrm>
            <a:off x="216381" y="8837282"/>
            <a:ext cx="1098588" cy="1381871"/>
          </a:xfrm>
          <a:prstGeom prst="rect">
            <a:avLst/>
          </a:prstGeom>
        </p:spPr>
      </p:pic>
      <p:pic>
        <p:nvPicPr>
          <p:cNvPr id="8" name="Picture 8"/>
          <p:cNvPicPr>
            <a:picLocks noChangeAspect="1"/>
          </p:cNvPicPr>
          <p:nvPr/>
        </p:nvPicPr>
        <p:blipFill>
          <a:blip r:embed="rId4"/>
          <a:srcRect/>
          <a:stretch>
            <a:fillRect/>
          </a:stretch>
        </p:blipFill>
        <p:spPr>
          <a:xfrm>
            <a:off x="479406" y="337764"/>
            <a:ext cx="1098588" cy="138187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TextBox 2"/>
          <p:cNvSpPr txBox="1"/>
          <p:nvPr/>
        </p:nvSpPr>
        <p:spPr>
          <a:xfrm>
            <a:off x="7277763" y="268288"/>
            <a:ext cx="3732475" cy="1368424"/>
          </a:xfrm>
          <a:prstGeom prst="rect">
            <a:avLst/>
          </a:prstGeom>
        </p:spPr>
        <p:txBody>
          <a:bodyPr lIns="0" tIns="0" rIns="0" bIns="0" rtlCol="0" anchor="t">
            <a:spAutoFit/>
          </a:bodyPr>
          <a:lstStyle/>
          <a:p>
            <a:pPr algn="l">
              <a:lnSpc>
                <a:spcPts val="11200"/>
              </a:lnSpc>
              <a:spcBef>
                <a:spcPct val="0"/>
              </a:spcBef>
            </a:pPr>
            <a:r>
              <a:rPr lang="en-US" sz="8000">
                <a:gradFill>
                  <a:gsLst>
                    <a:gs pos="0">
                      <a:srgbClr val="5170FF">
                        <a:alpha val="100000"/>
                      </a:srgbClr>
                    </a:gs>
                    <a:gs pos="100000">
                      <a:srgbClr val="FF66C4">
                        <a:alpha val="100000"/>
                      </a:srgbClr>
                    </a:gs>
                  </a:gsLst>
                  <a:lin ang="0"/>
                </a:gradFill>
                <a:latin typeface="Anton SC"/>
                <a:ea typeface="Anton SC"/>
                <a:cs typeface="Anton SC"/>
                <a:sym typeface="Anton SC"/>
              </a:rPr>
              <a:t> MỤC LỤC</a:t>
            </a:r>
          </a:p>
        </p:txBody>
      </p:sp>
      <p:sp>
        <p:nvSpPr>
          <p:cNvPr id="3" name="AutoShape 3"/>
          <p:cNvSpPr/>
          <p:nvPr/>
        </p:nvSpPr>
        <p:spPr>
          <a:xfrm flipV="1">
            <a:off x="0" y="1904500"/>
            <a:ext cx="16230600" cy="0"/>
          </a:xfrm>
          <a:prstGeom prst="line">
            <a:avLst/>
          </a:prstGeom>
          <a:ln w="9525" cap="flat">
            <a:solidFill>
              <a:srgbClr val="000000"/>
            </a:solidFill>
            <a:prstDash val="solid"/>
            <a:headEnd type="none" w="sm" len="sm"/>
            <a:tailEnd type="none" w="sm" len="sm"/>
          </a:ln>
        </p:spPr>
        <p:txBody>
          <a:bodyPr/>
          <a:lstStyle/>
          <a:p>
            <a:endParaRPr lang="en-US"/>
          </a:p>
        </p:txBody>
      </p:sp>
      <p:sp>
        <p:nvSpPr>
          <p:cNvPr id="4" name="Freeform 4"/>
          <p:cNvSpPr/>
          <p:nvPr/>
        </p:nvSpPr>
        <p:spPr>
          <a:xfrm>
            <a:off x="14113174" y="-2557709"/>
            <a:ext cx="7156962" cy="5600323"/>
          </a:xfrm>
          <a:custGeom>
            <a:avLst/>
            <a:gdLst/>
            <a:ahLst/>
            <a:cxnLst/>
            <a:rect l="l" t="t" r="r" b="b"/>
            <a:pathLst>
              <a:path w="7156962" h="5600323">
                <a:moveTo>
                  <a:pt x="0" y="0"/>
                </a:moveTo>
                <a:lnTo>
                  <a:pt x="7156962" y="0"/>
                </a:lnTo>
                <a:lnTo>
                  <a:pt x="7156962" y="5600323"/>
                </a:lnTo>
                <a:lnTo>
                  <a:pt x="0" y="5600323"/>
                </a:lnTo>
                <a:lnTo>
                  <a:pt x="0" y="0"/>
                </a:lnTo>
                <a:close/>
              </a:path>
            </a:pathLst>
          </a:custGeom>
          <a:blipFill>
            <a:blip r:embed="rId2"/>
            <a:stretch>
              <a:fillRect/>
            </a:stretch>
          </a:blipFill>
        </p:spPr>
        <p:txBody>
          <a:bodyPr/>
          <a:lstStyle/>
          <a:p>
            <a:endParaRPr lang="en-US"/>
          </a:p>
        </p:txBody>
      </p:sp>
      <p:sp>
        <p:nvSpPr>
          <p:cNvPr id="5" name="TextBox 5"/>
          <p:cNvSpPr txBox="1"/>
          <p:nvPr/>
        </p:nvSpPr>
        <p:spPr>
          <a:xfrm>
            <a:off x="1040980" y="3430863"/>
            <a:ext cx="12473565" cy="1409109"/>
          </a:xfrm>
          <a:prstGeom prst="rect">
            <a:avLst/>
          </a:prstGeom>
        </p:spPr>
        <p:txBody>
          <a:bodyPr lIns="0" tIns="0" rIns="0" bIns="0" rtlCol="0" anchor="t">
            <a:spAutoFit/>
          </a:bodyPr>
          <a:lstStyle/>
          <a:p>
            <a:pPr algn="l">
              <a:lnSpc>
                <a:spcPts val="11582"/>
              </a:lnSpc>
              <a:spcBef>
                <a:spcPct val="0"/>
              </a:spcBef>
            </a:pPr>
            <a:endParaRPr/>
          </a:p>
        </p:txBody>
      </p:sp>
      <p:sp>
        <p:nvSpPr>
          <p:cNvPr id="6" name="TextBox 6"/>
          <p:cNvSpPr txBox="1"/>
          <p:nvPr/>
        </p:nvSpPr>
        <p:spPr>
          <a:xfrm>
            <a:off x="1839062" y="3118814"/>
            <a:ext cx="11419738" cy="5834931"/>
          </a:xfrm>
          <a:prstGeom prst="rect">
            <a:avLst/>
          </a:prstGeom>
        </p:spPr>
        <p:txBody>
          <a:bodyPr wrap="square" lIns="0" tIns="0" rIns="0" bIns="0" rtlCol="0" anchor="t">
            <a:spAutoFit/>
          </a:bodyPr>
          <a:lstStyle/>
          <a:p>
            <a:pPr algn="l">
              <a:lnSpc>
                <a:spcPts val="9100"/>
              </a:lnSpc>
              <a:spcBef>
                <a:spcPct val="0"/>
              </a:spcBef>
            </a:pPr>
            <a:r>
              <a:rPr lang="en-US" sz="6500" dirty="0">
                <a:solidFill>
                  <a:srgbClr val="FF0000"/>
                </a:solidFill>
                <a:latin typeface="Anton SC"/>
                <a:ea typeface="Anton SC"/>
                <a:cs typeface="Anton SC"/>
                <a:sym typeface="Anton SC"/>
              </a:rPr>
              <a:t>1. NGUYÊN LIỆU CẦN CHUẨN BỊ</a:t>
            </a:r>
          </a:p>
          <a:p>
            <a:pPr algn="l">
              <a:lnSpc>
                <a:spcPts val="9100"/>
              </a:lnSpc>
              <a:spcBef>
                <a:spcPct val="0"/>
              </a:spcBef>
            </a:pPr>
            <a:r>
              <a:rPr lang="en-US" sz="6500" dirty="0">
                <a:solidFill>
                  <a:srgbClr val="2E03FF"/>
                </a:solidFill>
                <a:latin typeface="Anton SC"/>
                <a:ea typeface="Anton SC"/>
                <a:cs typeface="Anton SC"/>
                <a:sym typeface="Anton SC"/>
              </a:rPr>
              <a:t>2. CÁC BƯỚC THỰC HIỆN</a:t>
            </a:r>
          </a:p>
          <a:p>
            <a:pPr algn="l">
              <a:lnSpc>
                <a:spcPts val="9100"/>
              </a:lnSpc>
              <a:spcBef>
                <a:spcPct val="0"/>
              </a:spcBef>
            </a:pPr>
            <a:r>
              <a:rPr lang="en-US" sz="6500" dirty="0">
                <a:solidFill>
                  <a:srgbClr val="009D3A"/>
                </a:solidFill>
                <a:latin typeface="Anton SC"/>
                <a:ea typeface="Anton SC"/>
                <a:cs typeface="Anton SC"/>
                <a:sym typeface="Anton SC"/>
              </a:rPr>
              <a:t>3. KẾT QUẢ, THÀNH PHẨM MÔ HÌNH</a:t>
            </a:r>
          </a:p>
          <a:p>
            <a:pPr algn="l">
              <a:lnSpc>
                <a:spcPts val="9100"/>
              </a:lnSpc>
              <a:spcBef>
                <a:spcPct val="0"/>
              </a:spcBef>
            </a:pPr>
            <a:r>
              <a:rPr lang="en-US" sz="6500" dirty="0">
                <a:solidFill>
                  <a:srgbClr val="BC01C6"/>
                </a:solidFill>
                <a:latin typeface="Anton SC"/>
                <a:ea typeface="Anton SC"/>
                <a:cs typeface="Anton SC"/>
                <a:sym typeface="Anton SC"/>
              </a:rPr>
              <a:t>4. PHÂN TÍCH, Ý NGHĨA CỦA MÔ HÌNH</a:t>
            </a:r>
          </a:p>
          <a:p>
            <a:pPr algn="l">
              <a:lnSpc>
                <a:spcPts val="9100"/>
              </a:lnSpc>
              <a:spcBef>
                <a:spcPct val="0"/>
              </a:spcBef>
            </a:pPr>
            <a:r>
              <a:rPr lang="en-US" sz="6500" dirty="0">
                <a:solidFill>
                  <a:srgbClr val="00AEC6"/>
                </a:solidFill>
                <a:latin typeface="Anton SC"/>
                <a:ea typeface="Anton SC"/>
                <a:cs typeface="Anton SC"/>
                <a:sym typeface="Anton SC"/>
              </a:rPr>
              <a:t>5. ĐÁNH GIÁ CỦA NHÓM </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6" name="TextBox 6"/>
          <p:cNvSpPr txBox="1"/>
          <p:nvPr/>
        </p:nvSpPr>
        <p:spPr>
          <a:xfrm>
            <a:off x="2200275" y="2425700"/>
            <a:ext cx="11364069" cy="7737475"/>
          </a:xfrm>
          <a:prstGeom prst="rect">
            <a:avLst/>
          </a:prstGeom>
        </p:spPr>
        <p:txBody>
          <a:bodyPr lIns="0" tIns="0" rIns="0" bIns="0" rtlCol="0" anchor="t">
            <a:spAutoFit/>
          </a:bodyPr>
          <a:lstStyle/>
          <a:p>
            <a:pPr marL="1187449" lvl="1" indent="-593725" algn="l">
              <a:lnSpc>
                <a:spcPts val="7699"/>
              </a:lnSpc>
              <a:spcBef>
                <a:spcPct val="0"/>
              </a:spcBef>
              <a:buFont typeface="Arial"/>
              <a:buChar char="•"/>
            </a:pPr>
            <a:r>
              <a:rPr lang="en-US" sz="5499" dirty="0">
                <a:solidFill>
                  <a:srgbClr val="000000"/>
                </a:solidFill>
                <a:latin typeface="Baloo"/>
                <a:ea typeface="Baloo"/>
                <a:cs typeface="Baloo"/>
                <a:sym typeface="Baloo"/>
              </a:rPr>
              <a:t>QUE KEM</a:t>
            </a:r>
          </a:p>
          <a:p>
            <a:pPr marL="1187449" lvl="1" indent="-593725" algn="l">
              <a:lnSpc>
                <a:spcPts val="7699"/>
              </a:lnSpc>
              <a:spcBef>
                <a:spcPct val="0"/>
              </a:spcBef>
              <a:buFont typeface="Arial"/>
              <a:buChar char="•"/>
            </a:pPr>
            <a:r>
              <a:rPr lang="en-US" sz="5499" dirty="0">
                <a:solidFill>
                  <a:srgbClr val="000000"/>
                </a:solidFill>
                <a:latin typeface="Baloo"/>
                <a:ea typeface="Baloo"/>
                <a:cs typeface="Baloo"/>
                <a:sym typeface="Baloo"/>
              </a:rPr>
              <a:t>ĐŨA</a:t>
            </a:r>
          </a:p>
          <a:p>
            <a:pPr marL="1187449" lvl="1" indent="-593725" algn="l">
              <a:lnSpc>
                <a:spcPts val="7699"/>
              </a:lnSpc>
              <a:spcBef>
                <a:spcPct val="0"/>
              </a:spcBef>
              <a:buFont typeface="Arial"/>
              <a:buChar char="•"/>
            </a:pPr>
            <a:r>
              <a:rPr lang="en-US" sz="5499" dirty="0">
                <a:solidFill>
                  <a:srgbClr val="000000"/>
                </a:solidFill>
                <a:latin typeface="Baloo"/>
                <a:ea typeface="Baloo"/>
                <a:cs typeface="Baloo"/>
                <a:sym typeface="Baloo"/>
              </a:rPr>
              <a:t>ĐẤT SÉT</a:t>
            </a:r>
          </a:p>
          <a:p>
            <a:pPr marL="1187449" lvl="1" indent="-593725" algn="l">
              <a:lnSpc>
                <a:spcPts val="7699"/>
              </a:lnSpc>
              <a:spcBef>
                <a:spcPct val="0"/>
              </a:spcBef>
              <a:buFont typeface="Arial"/>
              <a:buChar char="•"/>
            </a:pPr>
            <a:r>
              <a:rPr lang="en-US" sz="5499" dirty="0">
                <a:solidFill>
                  <a:srgbClr val="000000"/>
                </a:solidFill>
                <a:latin typeface="Baloo"/>
                <a:ea typeface="Baloo"/>
                <a:cs typeface="Baloo"/>
                <a:sym typeface="Baloo"/>
              </a:rPr>
              <a:t>BÌA CARTON</a:t>
            </a:r>
          </a:p>
          <a:p>
            <a:pPr marL="1187449" lvl="1" indent="-593725" algn="l">
              <a:lnSpc>
                <a:spcPts val="7699"/>
              </a:lnSpc>
              <a:spcBef>
                <a:spcPct val="0"/>
              </a:spcBef>
              <a:buFont typeface="Arial"/>
              <a:buChar char="•"/>
            </a:pPr>
            <a:r>
              <a:rPr lang="en-US" sz="5499" dirty="0">
                <a:solidFill>
                  <a:srgbClr val="000000"/>
                </a:solidFill>
                <a:latin typeface="Baloo"/>
                <a:ea typeface="Baloo"/>
                <a:cs typeface="Baloo"/>
                <a:sym typeface="Baloo"/>
              </a:rPr>
              <a:t>GIẤY A4</a:t>
            </a:r>
          </a:p>
          <a:p>
            <a:pPr marL="1187449" lvl="1" indent="-593725" algn="l">
              <a:lnSpc>
                <a:spcPts val="7699"/>
              </a:lnSpc>
              <a:spcBef>
                <a:spcPct val="0"/>
              </a:spcBef>
              <a:buFont typeface="Arial"/>
              <a:buChar char="•"/>
            </a:pPr>
            <a:r>
              <a:rPr lang="en-US" sz="5499" dirty="0">
                <a:solidFill>
                  <a:srgbClr val="000000"/>
                </a:solidFill>
                <a:latin typeface="Baloo"/>
                <a:ea typeface="Baloo"/>
                <a:cs typeface="Baloo"/>
                <a:sym typeface="Baloo"/>
              </a:rPr>
              <a:t>MÀU AGRILIC</a:t>
            </a:r>
          </a:p>
          <a:p>
            <a:pPr marL="1187449" lvl="1" indent="-593725" algn="l">
              <a:lnSpc>
                <a:spcPts val="7699"/>
              </a:lnSpc>
              <a:spcBef>
                <a:spcPct val="0"/>
              </a:spcBef>
              <a:buFont typeface="Arial"/>
              <a:buChar char="•"/>
            </a:pPr>
            <a:r>
              <a:rPr lang="en-US" sz="5499" dirty="0">
                <a:solidFill>
                  <a:srgbClr val="000000"/>
                </a:solidFill>
                <a:latin typeface="Baloo"/>
                <a:ea typeface="Baloo"/>
                <a:cs typeface="Baloo"/>
                <a:sym typeface="Baloo"/>
              </a:rPr>
              <a:t>MÔ TƠ GIẢM TỐC 3V TRỤC DÀI</a:t>
            </a:r>
          </a:p>
          <a:p>
            <a:pPr algn="l">
              <a:lnSpc>
                <a:spcPts val="7699"/>
              </a:lnSpc>
              <a:spcBef>
                <a:spcPct val="0"/>
              </a:spcBef>
            </a:pPr>
            <a:endParaRPr lang="en-US" sz="5499" dirty="0">
              <a:solidFill>
                <a:srgbClr val="000000"/>
              </a:solidFill>
              <a:latin typeface="Baloo"/>
              <a:ea typeface="Baloo"/>
              <a:cs typeface="Baloo"/>
              <a:sym typeface="Baloo"/>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5881557" y="2137862"/>
            <a:ext cx="6524887" cy="6524887"/>
          </a:xfrm>
          <a:custGeom>
            <a:avLst/>
            <a:gdLst/>
            <a:ahLst/>
            <a:cxnLst/>
            <a:rect l="l" t="t" r="r" b="b"/>
            <a:pathLst>
              <a:path w="6524887" h="6524887">
                <a:moveTo>
                  <a:pt x="0" y="0"/>
                </a:moveTo>
                <a:lnTo>
                  <a:pt x="6524886" y="0"/>
                </a:lnTo>
                <a:lnTo>
                  <a:pt x="6524886" y="6524887"/>
                </a:lnTo>
                <a:lnTo>
                  <a:pt x="0" y="6524887"/>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7593950" y="8786574"/>
            <a:ext cx="3020169" cy="190817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QUE KEM</a:t>
            </a:r>
          </a:p>
          <a:p>
            <a:pPr algn="l">
              <a:lnSpc>
                <a:spcPts val="7699"/>
              </a:lnSpc>
              <a:spcBef>
                <a:spcPct val="0"/>
              </a:spcBef>
            </a:pPr>
            <a:endParaRPr lang="en-US" sz="5499">
              <a:solidFill>
                <a:srgbClr val="000000"/>
              </a:solidFill>
              <a:latin typeface="Baloo"/>
              <a:ea typeface="Baloo"/>
              <a:cs typeface="Baloo"/>
              <a:sym typeface="Baloo"/>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4523684" y="2320095"/>
            <a:ext cx="9240632" cy="6160421"/>
          </a:xfrm>
          <a:custGeom>
            <a:avLst/>
            <a:gdLst/>
            <a:ahLst/>
            <a:cxnLst/>
            <a:rect l="l" t="t" r="r" b="b"/>
            <a:pathLst>
              <a:path w="9240632" h="6160421">
                <a:moveTo>
                  <a:pt x="0" y="0"/>
                </a:moveTo>
                <a:lnTo>
                  <a:pt x="9240632" y="0"/>
                </a:lnTo>
                <a:lnTo>
                  <a:pt x="9240632" y="6160421"/>
                </a:lnTo>
                <a:lnTo>
                  <a:pt x="0" y="6160421"/>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8329010" y="8785316"/>
            <a:ext cx="155005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ĐŨA</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4378939" y="2137862"/>
            <a:ext cx="9450191" cy="6300127"/>
          </a:xfrm>
          <a:custGeom>
            <a:avLst/>
            <a:gdLst/>
            <a:ahLst/>
            <a:cxnLst/>
            <a:rect l="l" t="t" r="r" b="b"/>
            <a:pathLst>
              <a:path w="9450191" h="6300127">
                <a:moveTo>
                  <a:pt x="0" y="0"/>
                </a:moveTo>
                <a:lnTo>
                  <a:pt x="9450191" y="0"/>
                </a:lnTo>
                <a:lnTo>
                  <a:pt x="9450191" y="6300127"/>
                </a:lnTo>
                <a:lnTo>
                  <a:pt x="0" y="6300127"/>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7711750" y="8737600"/>
            <a:ext cx="286450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ĐẤT SÉT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5825543" y="2097327"/>
            <a:ext cx="6556983" cy="6556983"/>
          </a:xfrm>
          <a:custGeom>
            <a:avLst/>
            <a:gdLst/>
            <a:ahLst/>
            <a:cxnLst/>
            <a:rect l="l" t="t" r="r" b="b"/>
            <a:pathLst>
              <a:path w="6556983" h="6556983">
                <a:moveTo>
                  <a:pt x="0" y="0"/>
                </a:moveTo>
                <a:lnTo>
                  <a:pt x="6556983" y="0"/>
                </a:lnTo>
                <a:lnTo>
                  <a:pt x="6556983" y="6556983"/>
                </a:lnTo>
                <a:lnTo>
                  <a:pt x="0" y="6556983"/>
                </a:lnTo>
                <a:lnTo>
                  <a:pt x="0" y="0"/>
                </a:lnTo>
                <a:close/>
              </a:path>
            </a:pathLst>
          </a:custGeom>
          <a:blipFill>
            <a:blip r:embed="rId4"/>
            <a:stretch>
              <a:fillRect/>
            </a:stretch>
          </a:blipFill>
        </p:spPr>
        <p:txBody>
          <a:bodyPr/>
          <a:lstStyle/>
          <a:p>
            <a:endParaRPr lang="en-US"/>
          </a:p>
        </p:txBody>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7283125" y="8951539"/>
            <a:ext cx="423610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BÌA CARTON</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Freeform 5"/>
          <p:cNvSpPr/>
          <p:nvPr/>
        </p:nvSpPr>
        <p:spPr>
          <a:xfrm>
            <a:off x="5934094" y="1962337"/>
            <a:ext cx="6339882" cy="6617541"/>
          </a:xfrm>
          <a:custGeom>
            <a:avLst/>
            <a:gdLst/>
            <a:ahLst/>
            <a:cxnLst/>
            <a:rect l="l" t="t" r="r" b="b"/>
            <a:pathLst>
              <a:path w="6339882" h="6617541">
                <a:moveTo>
                  <a:pt x="0" y="0"/>
                </a:moveTo>
                <a:lnTo>
                  <a:pt x="6339882" y="0"/>
                </a:lnTo>
                <a:lnTo>
                  <a:pt x="6339882" y="6617541"/>
                </a:lnTo>
                <a:lnTo>
                  <a:pt x="0" y="6617541"/>
                </a:lnTo>
                <a:lnTo>
                  <a:pt x="0" y="0"/>
                </a:lnTo>
                <a:close/>
              </a:path>
            </a:pathLst>
          </a:custGeom>
          <a:blipFill>
            <a:blip r:embed="rId4"/>
            <a:stretch>
              <a:fillRect l="-76053" t="-41204" r="-148316" b="-33512"/>
            </a:stretch>
          </a:blipFill>
        </p:spPr>
        <p:txBody>
          <a:bodyPr/>
          <a:lstStyle/>
          <a:p>
            <a:endParaRPr lang="en-US"/>
          </a:p>
        </p:txBody>
      </p:sp>
      <p:sp>
        <p:nvSpPr>
          <p:cNvPr id="6" name="TextBox 6"/>
          <p:cNvSpPr txBox="1"/>
          <p:nvPr/>
        </p:nvSpPr>
        <p:spPr>
          <a:xfrm>
            <a:off x="4209279"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NGUYÊN LIỆU CẦN CHUẨN BỊ</a:t>
            </a:r>
          </a:p>
        </p:txBody>
      </p:sp>
      <p:sp>
        <p:nvSpPr>
          <p:cNvPr id="7" name="TextBox 7"/>
          <p:cNvSpPr txBox="1"/>
          <p:nvPr/>
        </p:nvSpPr>
        <p:spPr>
          <a:xfrm>
            <a:off x="5054275" y="8951539"/>
            <a:ext cx="10122550" cy="936625"/>
          </a:xfrm>
          <a:prstGeom prst="rect">
            <a:avLst/>
          </a:prstGeom>
        </p:spPr>
        <p:txBody>
          <a:bodyPr lIns="0" tIns="0" rIns="0" bIns="0" rtlCol="0" anchor="t">
            <a:spAutoFit/>
          </a:bodyPr>
          <a:lstStyle/>
          <a:p>
            <a:pPr algn="l">
              <a:lnSpc>
                <a:spcPts val="7699"/>
              </a:lnSpc>
              <a:spcBef>
                <a:spcPct val="0"/>
              </a:spcBef>
            </a:pPr>
            <a:r>
              <a:rPr lang="en-US" sz="5499">
                <a:solidFill>
                  <a:srgbClr val="000000"/>
                </a:solidFill>
                <a:latin typeface="Baloo"/>
                <a:ea typeface="Baloo"/>
                <a:cs typeface="Baloo"/>
                <a:sym typeface="Baloo"/>
              </a:rPr>
              <a:t>MÔ TƠ GIẢM TỐC 3V TRỤC DÀI</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463682" y="447675"/>
            <a:ext cx="7360636" cy="1038225"/>
          </a:xfrm>
          <a:prstGeom prst="rect">
            <a:avLst/>
          </a:prstGeom>
        </p:spPr>
        <p:txBody>
          <a:bodyPr lIns="0" tIns="0" rIns="0" bIns="0" rtlCol="0" anchor="t">
            <a:spAutoFit/>
          </a:bodyPr>
          <a:lstStyle/>
          <a:p>
            <a:pPr marL="647700" lvl="1" algn="l">
              <a:lnSpc>
                <a:spcPts val="8400"/>
              </a:lnSpc>
              <a:spcBef>
                <a:spcPct val="0"/>
              </a:spcBef>
            </a:pPr>
            <a:r>
              <a:rPr lang="en-US" sz="6000">
                <a:gradFill>
                  <a:gsLst>
                    <a:gs pos="0">
                      <a:srgbClr val="8C52FF">
                        <a:alpha val="100000"/>
                      </a:srgbClr>
                    </a:gs>
                    <a:gs pos="100000">
                      <a:srgbClr val="5CE1E6">
                        <a:alpha val="100000"/>
                      </a:srgbClr>
                    </a:gs>
                  </a:gsLst>
                  <a:lin ang="0"/>
                </a:gradFill>
                <a:latin typeface="Anton SC"/>
                <a:ea typeface="Anton SC"/>
                <a:cs typeface="Anton SC"/>
                <a:sym typeface="Anton SC"/>
              </a:rPr>
              <a:t>2. CÁC BƯỚC THỰC HIỆN</a:t>
            </a:r>
          </a:p>
        </p:txBody>
      </p:sp>
      <p:sp>
        <p:nvSpPr>
          <p:cNvPr id="6" name="TextBox 6"/>
          <p:cNvSpPr txBox="1"/>
          <p:nvPr/>
        </p:nvSpPr>
        <p:spPr>
          <a:xfrm>
            <a:off x="1482294" y="2599825"/>
            <a:ext cx="16104586" cy="8371205"/>
          </a:xfrm>
          <a:prstGeom prst="rect">
            <a:avLst/>
          </a:prstGeom>
        </p:spPr>
        <p:txBody>
          <a:bodyPr lIns="0" tIns="0" rIns="0" bIns="0" rtlCol="0" anchor="t">
            <a:spAutoFit/>
          </a:bodyPr>
          <a:lstStyle/>
          <a:p>
            <a:pPr marL="1144271" lvl="1" indent="-572135" algn="l">
              <a:lnSpc>
                <a:spcPts val="7420"/>
              </a:lnSpc>
              <a:buFont typeface="Arial"/>
              <a:buChar char="•"/>
            </a:pPr>
            <a:r>
              <a:rPr lang="en-US" sz="5300" dirty="0" err="1">
                <a:solidFill>
                  <a:srgbClr val="ED0000"/>
                </a:solidFill>
                <a:latin typeface="Baloo"/>
                <a:ea typeface="Baloo"/>
                <a:cs typeface="Baloo"/>
                <a:sym typeface="Baloo"/>
              </a:rPr>
              <a:t>Bước</a:t>
            </a:r>
            <a:r>
              <a:rPr lang="en-US" sz="5300" dirty="0">
                <a:solidFill>
                  <a:srgbClr val="ED0000"/>
                </a:solidFill>
                <a:latin typeface="Baloo"/>
                <a:ea typeface="Baloo"/>
                <a:cs typeface="Baloo"/>
                <a:sym typeface="Baloo"/>
              </a:rPr>
              <a:t> 1:</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Làm</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trục</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bằng</a:t>
            </a:r>
            <a:r>
              <a:rPr lang="en-US" sz="5300" dirty="0">
                <a:solidFill>
                  <a:srgbClr val="000000"/>
                </a:solidFill>
                <a:latin typeface="Baloo"/>
                <a:ea typeface="Baloo"/>
                <a:cs typeface="Baloo"/>
                <a:sym typeface="Baloo"/>
              </a:rPr>
              <a:t> 2 </a:t>
            </a:r>
            <a:r>
              <a:rPr lang="en-US" sz="5300" dirty="0" err="1">
                <a:solidFill>
                  <a:srgbClr val="000000"/>
                </a:solidFill>
                <a:latin typeface="Baloo"/>
                <a:ea typeface="Baloo"/>
                <a:cs typeface="Baloo"/>
                <a:sym typeface="Baloo"/>
              </a:rPr>
              <a:t>chiếc</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đũa</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kết</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nối</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lại</a:t>
            </a:r>
            <a:endParaRPr lang="en-US" sz="5300" dirty="0">
              <a:solidFill>
                <a:srgbClr val="000000"/>
              </a:solidFill>
              <a:latin typeface="Baloo"/>
              <a:ea typeface="Baloo"/>
              <a:cs typeface="Baloo"/>
              <a:sym typeface="Baloo"/>
            </a:endParaRPr>
          </a:p>
          <a:p>
            <a:pPr algn="l">
              <a:lnSpc>
                <a:spcPts val="7420"/>
              </a:lnSpc>
            </a:pPr>
            <a:endParaRPr lang="en-US" sz="5300" dirty="0">
              <a:solidFill>
                <a:srgbClr val="000000"/>
              </a:solidFill>
              <a:latin typeface="Baloo"/>
              <a:ea typeface="Baloo"/>
              <a:cs typeface="Baloo"/>
              <a:sym typeface="Baloo"/>
            </a:endParaRPr>
          </a:p>
          <a:p>
            <a:pPr marL="1144271" lvl="1" indent="-572135" algn="l">
              <a:lnSpc>
                <a:spcPts val="7420"/>
              </a:lnSpc>
              <a:buFont typeface="Arial"/>
              <a:buChar char="•"/>
            </a:pPr>
            <a:r>
              <a:rPr lang="en-US" sz="5300" dirty="0" err="1">
                <a:solidFill>
                  <a:srgbClr val="ED0000"/>
                </a:solidFill>
                <a:latin typeface="Baloo"/>
                <a:ea typeface="Baloo"/>
                <a:cs typeface="Baloo"/>
                <a:sym typeface="Baloo"/>
              </a:rPr>
              <a:t>Bước</a:t>
            </a:r>
            <a:r>
              <a:rPr lang="en-US" sz="5300" dirty="0">
                <a:solidFill>
                  <a:srgbClr val="ED0000"/>
                </a:solidFill>
                <a:latin typeface="Baloo"/>
                <a:ea typeface="Baloo"/>
                <a:cs typeface="Baloo"/>
                <a:sym typeface="Baloo"/>
              </a:rPr>
              <a:t> 2:</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Tô</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màu</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lên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các</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que</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kem</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theo</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màu</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của</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các</a:t>
            </a:r>
            <a:r>
              <a:rPr lang="en-US" sz="5300" dirty="0">
                <a:solidFill>
                  <a:srgbClr val="000000"/>
                </a:solidFill>
                <a:latin typeface="Baloo"/>
                <a:ea typeface="Baloo"/>
                <a:cs typeface="Baloo"/>
                <a:sym typeface="Baloo"/>
              </a:rPr>
              <a:t> nucleotide </a:t>
            </a:r>
            <a:r>
              <a:rPr lang="en-US" sz="5300" dirty="0" err="1">
                <a:solidFill>
                  <a:srgbClr val="000000"/>
                </a:solidFill>
                <a:latin typeface="Baloo"/>
                <a:ea typeface="Baloo"/>
                <a:cs typeface="Baloo"/>
                <a:sym typeface="Baloo"/>
              </a:rPr>
              <a:t>tương</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ứng</a:t>
            </a:r>
            <a:r>
              <a:rPr lang="en-US" sz="5300" dirty="0">
                <a:solidFill>
                  <a:srgbClr val="000000"/>
                </a:solidFill>
                <a:latin typeface="Baloo"/>
                <a:ea typeface="Baloo"/>
                <a:cs typeface="Baloo"/>
                <a:sym typeface="Baloo"/>
              </a:rPr>
              <a:t> </a:t>
            </a:r>
          </a:p>
          <a:p>
            <a:pPr algn="l">
              <a:lnSpc>
                <a:spcPts val="7420"/>
              </a:lnSpc>
            </a:pPr>
            <a:endParaRPr lang="en-US" sz="5300" dirty="0">
              <a:solidFill>
                <a:srgbClr val="000000"/>
              </a:solidFill>
              <a:latin typeface="Baloo"/>
              <a:ea typeface="Baloo"/>
              <a:cs typeface="Baloo"/>
              <a:sym typeface="Baloo"/>
            </a:endParaRPr>
          </a:p>
          <a:p>
            <a:pPr marL="1144271" lvl="1" indent="-572135" algn="l">
              <a:lnSpc>
                <a:spcPts val="7420"/>
              </a:lnSpc>
              <a:buFont typeface="Arial"/>
              <a:buChar char="•"/>
            </a:pPr>
            <a:r>
              <a:rPr lang="en-US" sz="5300" dirty="0" err="1">
                <a:solidFill>
                  <a:srgbClr val="ED0000"/>
                </a:solidFill>
                <a:latin typeface="Baloo"/>
                <a:ea typeface="Baloo"/>
                <a:cs typeface="Baloo"/>
                <a:sym typeface="Baloo"/>
              </a:rPr>
              <a:t>Bước</a:t>
            </a:r>
            <a:r>
              <a:rPr lang="en-US" sz="5300" dirty="0">
                <a:solidFill>
                  <a:srgbClr val="ED0000"/>
                </a:solidFill>
                <a:latin typeface="Baloo"/>
                <a:ea typeface="Baloo"/>
                <a:cs typeface="Baloo"/>
                <a:sym typeface="Baloo"/>
              </a:rPr>
              <a:t> 3: </a:t>
            </a:r>
            <a:r>
              <a:rPr lang="en-US" sz="5300" dirty="0" err="1">
                <a:solidFill>
                  <a:srgbClr val="000000"/>
                </a:solidFill>
                <a:latin typeface="Baloo"/>
                <a:ea typeface="Baloo"/>
                <a:cs typeface="Baloo"/>
                <a:sym typeface="Baloo"/>
              </a:rPr>
              <a:t>Nặng</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đất</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sét</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thành</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các</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viên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tròn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và</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gắn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lên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que</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kem</a:t>
            </a:r>
            <a:endParaRPr lang="en-US" sz="5300" dirty="0">
              <a:solidFill>
                <a:srgbClr val="000000"/>
              </a:solidFill>
              <a:latin typeface="Baloo"/>
              <a:ea typeface="Baloo"/>
              <a:cs typeface="Baloo"/>
              <a:sym typeface="Baloo"/>
            </a:endParaRPr>
          </a:p>
          <a:p>
            <a:pPr algn="l">
              <a:lnSpc>
                <a:spcPts val="7420"/>
              </a:lnSpc>
            </a:pPr>
            <a:endParaRPr lang="en-US" sz="5300" dirty="0">
              <a:solidFill>
                <a:srgbClr val="000000"/>
              </a:solidFill>
              <a:latin typeface="Baloo"/>
              <a:ea typeface="Baloo"/>
              <a:cs typeface="Baloo"/>
              <a:sym typeface="Baloo"/>
            </a:endParaRPr>
          </a:p>
          <a:p>
            <a:pPr algn="l">
              <a:lnSpc>
                <a:spcPts val="7420"/>
              </a:lnSpc>
              <a:spcBef>
                <a:spcPct val="0"/>
              </a:spcBef>
            </a:pPr>
            <a:endParaRPr lang="en-US" sz="5300" dirty="0">
              <a:solidFill>
                <a:srgbClr val="000000"/>
              </a:solidFill>
              <a:latin typeface="Baloo"/>
              <a:ea typeface="Baloo"/>
              <a:cs typeface="Baloo"/>
              <a:sym typeface="Baloo"/>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463682" y="447675"/>
            <a:ext cx="7360636" cy="1038225"/>
          </a:xfrm>
          <a:prstGeom prst="rect">
            <a:avLst/>
          </a:prstGeom>
        </p:spPr>
        <p:txBody>
          <a:bodyPr lIns="0" tIns="0" rIns="0" bIns="0" rtlCol="0" anchor="t">
            <a:spAutoFit/>
          </a:bodyPr>
          <a:lstStyle/>
          <a:p>
            <a:pPr marL="647700" lvl="1" algn="l">
              <a:lnSpc>
                <a:spcPts val="8400"/>
              </a:lnSpc>
              <a:spcBef>
                <a:spcPct val="0"/>
              </a:spcBef>
            </a:pPr>
            <a:r>
              <a:rPr lang="en-US" sz="6000">
                <a:gradFill>
                  <a:gsLst>
                    <a:gs pos="0">
                      <a:srgbClr val="8C52FF">
                        <a:alpha val="100000"/>
                      </a:srgbClr>
                    </a:gs>
                    <a:gs pos="100000">
                      <a:srgbClr val="5CE1E6">
                        <a:alpha val="100000"/>
                      </a:srgbClr>
                    </a:gs>
                  </a:gsLst>
                  <a:lin ang="0"/>
                </a:gradFill>
                <a:latin typeface="Anton SC"/>
                <a:ea typeface="Anton SC"/>
                <a:cs typeface="Anton SC"/>
                <a:sym typeface="Anton SC"/>
              </a:rPr>
              <a:t>2. CÁC BƯỚC THỰC HIỆN</a:t>
            </a:r>
          </a:p>
        </p:txBody>
      </p:sp>
      <p:sp>
        <p:nvSpPr>
          <p:cNvPr id="6" name="TextBox 6"/>
          <p:cNvSpPr txBox="1"/>
          <p:nvPr/>
        </p:nvSpPr>
        <p:spPr>
          <a:xfrm>
            <a:off x="1425144" y="2228350"/>
            <a:ext cx="16104586" cy="9304655"/>
          </a:xfrm>
          <a:prstGeom prst="rect">
            <a:avLst/>
          </a:prstGeom>
        </p:spPr>
        <p:txBody>
          <a:bodyPr lIns="0" tIns="0" rIns="0" bIns="0" rtlCol="0" anchor="t">
            <a:spAutoFit/>
          </a:bodyPr>
          <a:lstStyle/>
          <a:p>
            <a:pPr marL="1144271" lvl="1" indent="-572135" algn="l">
              <a:lnSpc>
                <a:spcPts val="7420"/>
              </a:lnSpc>
              <a:buFont typeface="Arial"/>
              <a:buChar char="•"/>
            </a:pPr>
            <a:r>
              <a:rPr lang="en-US" sz="5300" dirty="0" err="1">
                <a:solidFill>
                  <a:srgbClr val="ED0000"/>
                </a:solidFill>
                <a:latin typeface="Baloo"/>
                <a:ea typeface="Baloo"/>
                <a:cs typeface="Baloo"/>
                <a:sym typeface="Baloo"/>
              </a:rPr>
              <a:t>Bước</a:t>
            </a:r>
            <a:r>
              <a:rPr lang="en-US" sz="5300" dirty="0">
                <a:solidFill>
                  <a:srgbClr val="ED0000"/>
                </a:solidFill>
                <a:latin typeface="Baloo"/>
                <a:ea typeface="Baloo"/>
                <a:cs typeface="Baloo"/>
                <a:sym typeface="Baloo"/>
              </a:rPr>
              <a:t> 4:</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Gắn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que</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kem</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đã</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gắn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đất</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sét</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lên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trục</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theo</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dạng</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xoắn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kép</a:t>
            </a:r>
            <a:endParaRPr lang="en-US" sz="5300" dirty="0">
              <a:solidFill>
                <a:srgbClr val="000000"/>
              </a:solidFill>
              <a:latin typeface="Baloo"/>
              <a:ea typeface="Baloo"/>
              <a:cs typeface="Baloo"/>
              <a:sym typeface="Baloo"/>
            </a:endParaRPr>
          </a:p>
          <a:p>
            <a:pPr algn="l">
              <a:lnSpc>
                <a:spcPts val="7420"/>
              </a:lnSpc>
            </a:pPr>
            <a:endParaRPr lang="en-US" sz="5300" dirty="0">
              <a:solidFill>
                <a:srgbClr val="000000"/>
              </a:solidFill>
              <a:latin typeface="Baloo"/>
              <a:ea typeface="Baloo"/>
              <a:cs typeface="Baloo"/>
              <a:sym typeface="Baloo"/>
            </a:endParaRPr>
          </a:p>
          <a:p>
            <a:pPr marL="1144271" lvl="1" indent="-572135" algn="l">
              <a:lnSpc>
                <a:spcPts val="7420"/>
              </a:lnSpc>
              <a:buFont typeface="Arial"/>
              <a:buChar char="•"/>
            </a:pPr>
            <a:r>
              <a:rPr lang="en-US" sz="5300" dirty="0" err="1">
                <a:solidFill>
                  <a:srgbClr val="ED0000"/>
                </a:solidFill>
                <a:latin typeface="Baloo"/>
                <a:ea typeface="Baloo"/>
                <a:cs typeface="Baloo"/>
                <a:sym typeface="Baloo"/>
              </a:rPr>
              <a:t>Bước</a:t>
            </a:r>
            <a:r>
              <a:rPr lang="en-US" sz="5300" dirty="0">
                <a:solidFill>
                  <a:srgbClr val="ED0000"/>
                </a:solidFill>
                <a:latin typeface="Baloo"/>
                <a:ea typeface="Baloo"/>
                <a:cs typeface="Baloo"/>
                <a:sym typeface="Baloo"/>
              </a:rPr>
              <a:t> 5:</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Khoét</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lỗ</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để</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đút</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đầu</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mô</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tơ</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ra</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và</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dán</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giấy</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xung</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quanh</a:t>
            </a:r>
            <a:r>
              <a:rPr lang="en-US" sz="5300" dirty="0">
                <a:solidFill>
                  <a:srgbClr val="000000"/>
                </a:solidFill>
                <a:latin typeface="Baloo"/>
                <a:ea typeface="Baloo"/>
                <a:cs typeface="Baloo"/>
                <a:sym typeface="Baloo"/>
              </a:rPr>
              <a:t> </a:t>
            </a:r>
            <a:r>
              <a:rPr lang="en-US" sz="5300" dirty="0" err="1">
                <a:solidFill>
                  <a:srgbClr val="000000"/>
                </a:solidFill>
                <a:latin typeface="Baloo"/>
                <a:ea typeface="Baloo"/>
                <a:cs typeface="Baloo"/>
                <a:sym typeface="Baloo"/>
              </a:rPr>
              <a:t>hộp</a:t>
            </a:r>
            <a:r>
              <a:rPr lang="en-US" sz="5300" dirty="0">
                <a:solidFill>
                  <a:srgbClr val="000000"/>
                </a:solidFill>
                <a:latin typeface="Baloo"/>
                <a:ea typeface="Baloo"/>
                <a:cs typeface="Baloo"/>
                <a:sym typeface="Baloo"/>
              </a:rPr>
              <a:t> carton</a:t>
            </a:r>
          </a:p>
          <a:p>
            <a:pPr algn="l">
              <a:lnSpc>
                <a:spcPts val="7420"/>
              </a:lnSpc>
            </a:pPr>
            <a:endParaRPr lang="en-US" sz="5300" dirty="0">
              <a:solidFill>
                <a:srgbClr val="000000"/>
              </a:solidFill>
              <a:latin typeface="Baloo"/>
              <a:ea typeface="Baloo"/>
              <a:cs typeface="Baloo"/>
              <a:sym typeface="Baloo"/>
            </a:endParaRPr>
          </a:p>
          <a:p>
            <a:pPr marL="1144271" lvl="1" indent="-572135" algn="l">
              <a:lnSpc>
                <a:spcPts val="7420"/>
              </a:lnSpc>
              <a:buFont typeface="Arial"/>
              <a:buChar char="•"/>
            </a:pPr>
            <a:r>
              <a:rPr lang="en-US" sz="5300" dirty="0" err="1">
                <a:solidFill>
                  <a:srgbClr val="ED0000"/>
                </a:solidFill>
                <a:latin typeface="Baloo"/>
                <a:ea typeface="Baloo"/>
                <a:cs typeface="Baloo"/>
                <a:sym typeface="Baloo"/>
              </a:rPr>
              <a:t>Bước</a:t>
            </a:r>
            <a:r>
              <a:rPr lang="en-US" sz="5300" dirty="0">
                <a:solidFill>
                  <a:srgbClr val="ED0000"/>
                </a:solidFill>
                <a:latin typeface="Baloo"/>
                <a:ea typeface="Baloo"/>
                <a:cs typeface="Baloo"/>
                <a:sym typeface="Baloo"/>
              </a:rPr>
              <a:t> 6: </a:t>
            </a:r>
            <a:r>
              <a:rPr lang="en-US" sz="5300" dirty="0" err="1">
                <a:solidFill>
                  <a:srgbClr val="2E2E30"/>
                </a:solidFill>
                <a:latin typeface="Baloo"/>
                <a:ea typeface="Baloo"/>
                <a:cs typeface="Baloo"/>
                <a:sym typeface="Baloo"/>
              </a:rPr>
              <a:t>Kết</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nối</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các</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bộ</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phận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để</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hoàn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thành</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mô</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hình</a:t>
            </a:r>
            <a:r>
              <a:rPr lang="en-US" sz="5300" dirty="0">
                <a:solidFill>
                  <a:srgbClr val="2E2E30"/>
                </a:solidFill>
                <a:latin typeface="Baloo"/>
                <a:ea typeface="Baloo"/>
                <a:cs typeface="Baloo"/>
                <a:sym typeface="Baloo"/>
              </a:rPr>
              <a:t> DNA</a:t>
            </a:r>
          </a:p>
          <a:p>
            <a:pPr algn="l">
              <a:lnSpc>
                <a:spcPts val="7420"/>
              </a:lnSpc>
            </a:pPr>
            <a:endParaRPr lang="en-US" sz="5300" dirty="0">
              <a:solidFill>
                <a:srgbClr val="2E2E30"/>
              </a:solidFill>
              <a:latin typeface="Baloo"/>
              <a:ea typeface="Baloo"/>
              <a:cs typeface="Baloo"/>
              <a:sym typeface="Baloo"/>
            </a:endParaRPr>
          </a:p>
          <a:p>
            <a:pPr algn="l">
              <a:lnSpc>
                <a:spcPts val="7420"/>
              </a:lnSpc>
              <a:spcBef>
                <a:spcPct val="0"/>
              </a:spcBef>
            </a:pPr>
            <a:endParaRPr lang="en-US" sz="5300" dirty="0">
              <a:solidFill>
                <a:srgbClr val="2E2E30"/>
              </a:solidFill>
              <a:latin typeface="Baloo"/>
              <a:ea typeface="Baloo"/>
              <a:cs typeface="Baloo"/>
              <a:sym typeface="Baloo"/>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6729630" y="0"/>
            <a:ext cx="1714500" cy="1714500"/>
          </a:xfrm>
          <a:prstGeom prst="rect">
            <a:avLst/>
          </a:prstGeom>
        </p:spPr>
      </p:pic>
      <p:pic>
        <p:nvPicPr>
          <p:cNvPr id="3" name="Picture 3"/>
          <p:cNvPicPr>
            <a:picLocks noChangeAspect="1"/>
          </p:cNvPicPr>
          <p:nvPr/>
        </p:nvPicPr>
        <p:blipFill>
          <a:blip r:embed="rId3"/>
          <a:srcRect/>
          <a:stretch>
            <a:fillRect/>
          </a:stretch>
        </p:blipFill>
        <p:spPr>
          <a:xfrm>
            <a:off x="326557" y="8781304"/>
            <a:ext cx="1098588" cy="1381871"/>
          </a:xfrm>
          <a:prstGeom prst="rect">
            <a:avLst/>
          </a:prstGeom>
        </p:spPr>
      </p:pic>
      <p:sp>
        <p:nvSpPr>
          <p:cNvPr id="4" name="TextBox 4"/>
          <p:cNvSpPr txBox="1"/>
          <p:nvPr/>
        </p:nvSpPr>
        <p:spPr>
          <a:xfrm>
            <a:off x="2220420" y="2963863"/>
            <a:ext cx="13847161" cy="4308872"/>
          </a:xfrm>
          <a:prstGeom prst="rect">
            <a:avLst/>
          </a:prstGeom>
        </p:spPr>
        <p:txBody>
          <a:bodyPr lIns="0" tIns="0" rIns="0" bIns="0" rtlCol="0" anchor="t">
            <a:spAutoFit/>
          </a:bodyPr>
          <a:lstStyle/>
          <a:p>
            <a:pPr algn="l">
              <a:lnSpc>
                <a:spcPts val="11200"/>
              </a:lnSpc>
            </a:pPr>
            <a:endParaRPr dirty="0"/>
          </a:p>
          <a:p>
            <a:pPr marL="863602" lvl="1" algn="l">
              <a:lnSpc>
                <a:spcPts val="11200"/>
              </a:lnSpc>
            </a:pPr>
            <a:r>
              <a:rPr lang="en-US" sz="8000" dirty="0">
                <a:gradFill>
                  <a:gsLst>
                    <a:gs pos="0">
                      <a:srgbClr val="8C52FF">
                        <a:alpha val="100000"/>
                      </a:srgbClr>
                    </a:gs>
                    <a:gs pos="100000">
                      <a:srgbClr val="FF914D">
                        <a:alpha val="100000"/>
                      </a:srgbClr>
                    </a:gs>
                  </a:gsLst>
                  <a:lin ang="0"/>
                </a:gradFill>
                <a:latin typeface="Anton SC"/>
                <a:ea typeface="Anton SC"/>
                <a:cs typeface="Anton SC"/>
                <a:sym typeface="Anton SC"/>
              </a:rPr>
              <a:t>3. KẾT QUẢ THÀNH PHẨM MÔ HÌNH</a:t>
            </a:r>
          </a:p>
          <a:p>
            <a:pPr algn="l">
              <a:lnSpc>
                <a:spcPts val="11200"/>
              </a:lnSpc>
              <a:spcBef>
                <a:spcPct val="0"/>
              </a:spcBef>
            </a:pPr>
            <a:endParaRPr lang="en-US" sz="8000" dirty="0">
              <a:gradFill>
                <a:gsLst>
                  <a:gs pos="0">
                    <a:srgbClr val="8C52FF">
                      <a:alpha val="100000"/>
                    </a:srgbClr>
                  </a:gs>
                  <a:gs pos="100000">
                    <a:srgbClr val="FF914D">
                      <a:alpha val="100000"/>
                    </a:srgbClr>
                  </a:gs>
                </a:gsLst>
                <a:lin ang="0"/>
              </a:gradFill>
              <a:latin typeface="Anton SC"/>
              <a:ea typeface="Anton SC"/>
              <a:cs typeface="Anton SC"/>
              <a:sym typeface="Anton SC"/>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3792045" y="447675"/>
            <a:ext cx="10703911" cy="1038225"/>
          </a:xfrm>
          <a:prstGeom prst="rect">
            <a:avLst/>
          </a:prstGeom>
        </p:spPr>
        <p:txBody>
          <a:bodyPr lIns="0" tIns="0" rIns="0" bIns="0" rtlCol="0" anchor="t">
            <a:spAutoFit/>
          </a:bodyPr>
          <a:lstStyle/>
          <a:p>
            <a:pPr marL="647700" lvl="1" algn="l">
              <a:lnSpc>
                <a:spcPts val="8400"/>
              </a:lnSpc>
              <a:spcBef>
                <a:spcPct val="0"/>
              </a:spcBef>
            </a:pPr>
            <a:r>
              <a:rPr lang="en-US" sz="6000">
                <a:gradFill>
                  <a:gsLst>
                    <a:gs pos="0">
                      <a:srgbClr val="0097B2">
                        <a:alpha val="100000"/>
                      </a:srgbClr>
                    </a:gs>
                    <a:gs pos="100000">
                      <a:srgbClr val="7ED957">
                        <a:alpha val="100000"/>
                      </a:srgbClr>
                    </a:gs>
                  </a:gsLst>
                  <a:lin ang="0"/>
                </a:gradFill>
                <a:latin typeface="Anton SC"/>
                <a:ea typeface="Anton SC"/>
                <a:cs typeface="Anton SC"/>
                <a:sym typeface="Anton SC"/>
              </a:rPr>
              <a:t>4. PHÂN TÍCH, Ý NGHĨA CỦA MÔ HÌNH</a:t>
            </a:r>
          </a:p>
        </p:txBody>
      </p:sp>
      <p:sp>
        <p:nvSpPr>
          <p:cNvPr id="6" name="TextBox 6"/>
          <p:cNvSpPr txBox="1"/>
          <p:nvPr/>
        </p:nvSpPr>
        <p:spPr>
          <a:xfrm>
            <a:off x="1710894" y="2417853"/>
            <a:ext cx="2877074" cy="927100"/>
          </a:xfrm>
          <a:prstGeom prst="rect">
            <a:avLst/>
          </a:prstGeom>
        </p:spPr>
        <p:txBody>
          <a:bodyPr lIns="0" tIns="0" rIns="0" bIns="0" rtlCol="0" anchor="t">
            <a:spAutoFit/>
          </a:bodyPr>
          <a:lstStyle/>
          <a:p>
            <a:pPr algn="l">
              <a:lnSpc>
                <a:spcPts val="7699"/>
              </a:lnSpc>
              <a:spcBef>
                <a:spcPct val="0"/>
              </a:spcBef>
            </a:pPr>
            <a:r>
              <a:rPr lang="en-US" sz="5499" dirty="0">
                <a:solidFill>
                  <a:srgbClr val="FF0000"/>
                </a:solidFill>
                <a:latin typeface="Anton SC"/>
                <a:ea typeface="Anton SC"/>
                <a:cs typeface="Anton SC"/>
                <a:sym typeface="Anton SC"/>
              </a:rPr>
              <a:t>PHÂN TÍCH</a:t>
            </a:r>
          </a:p>
        </p:txBody>
      </p:sp>
      <p:sp>
        <p:nvSpPr>
          <p:cNvPr id="7" name="TextBox 7"/>
          <p:cNvSpPr txBox="1"/>
          <p:nvPr/>
        </p:nvSpPr>
        <p:spPr>
          <a:xfrm>
            <a:off x="6185761" y="3750889"/>
            <a:ext cx="7257744" cy="5721350"/>
          </a:xfrm>
          <a:prstGeom prst="rect">
            <a:avLst/>
          </a:prstGeom>
        </p:spPr>
        <p:txBody>
          <a:bodyPr lIns="0" tIns="0" rIns="0" bIns="0" rtlCol="0" anchor="t">
            <a:spAutoFit/>
          </a:bodyPr>
          <a:lstStyle/>
          <a:p>
            <a:pPr algn="l">
              <a:lnSpc>
                <a:spcPts val="9100"/>
              </a:lnSpc>
            </a:pPr>
            <a:r>
              <a:rPr lang="en-US" sz="6500" dirty="0" err="1">
                <a:solidFill>
                  <a:srgbClr val="FF0000"/>
                </a:solidFill>
                <a:latin typeface="Baloo"/>
                <a:ea typeface="Baloo"/>
                <a:cs typeface="Baloo"/>
                <a:sym typeface="Baloo"/>
              </a:rPr>
              <a:t>Màu</a:t>
            </a:r>
            <a:r>
              <a:rPr lang="en-US" sz="6500" dirty="0">
                <a:solidFill>
                  <a:srgbClr val="FF0000"/>
                </a:solidFill>
                <a:latin typeface="Baloo"/>
                <a:ea typeface="Baloo"/>
                <a:cs typeface="Baloo"/>
                <a:sym typeface="Baloo"/>
              </a:rPr>
              <a:t> </a:t>
            </a:r>
            <a:r>
              <a:rPr lang="en-US" sz="6500" dirty="0" err="1">
                <a:solidFill>
                  <a:srgbClr val="FF0000"/>
                </a:solidFill>
                <a:latin typeface="Baloo"/>
                <a:ea typeface="Baloo"/>
                <a:cs typeface="Baloo"/>
                <a:sym typeface="Baloo"/>
              </a:rPr>
              <a:t>đỏ</a:t>
            </a:r>
            <a:r>
              <a:rPr lang="en-US" sz="6500" dirty="0">
                <a:solidFill>
                  <a:srgbClr val="FF0000"/>
                </a:solidFill>
                <a:latin typeface="Baloo"/>
                <a:ea typeface="Baloo"/>
                <a:cs typeface="Baloo"/>
                <a:sym typeface="Baloo"/>
              </a:rPr>
              <a:t>: A</a:t>
            </a:r>
          </a:p>
          <a:p>
            <a:pPr algn="l">
              <a:lnSpc>
                <a:spcPts val="9100"/>
              </a:lnSpc>
            </a:pPr>
            <a:r>
              <a:rPr lang="en-US" sz="6500" dirty="0" err="1">
                <a:solidFill>
                  <a:srgbClr val="D1951A"/>
                </a:solidFill>
                <a:latin typeface="Baloo"/>
                <a:ea typeface="Baloo"/>
                <a:cs typeface="Baloo"/>
                <a:sym typeface="Baloo"/>
              </a:rPr>
              <a:t>Màu</a:t>
            </a:r>
            <a:r>
              <a:rPr lang="en-US" sz="6500" dirty="0">
                <a:solidFill>
                  <a:srgbClr val="D1951A"/>
                </a:solidFill>
                <a:latin typeface="Baloo"/>
                <a:ea typeface="Baloo"/>
                <a:cs typeface="Baloo"/>
                <a:sym typeface="Baloo"/>
              </a:rPr>
              <a:t> </a:t>
            </a:r>
            <a:r>
              <a:rPr lang="en-US" sz="6500" dirty="0" err="1">
                <a:solidFill>
                  <a:srgbClr val="D1951A"/>
                </a:solidFill>
                <a:latin typeface="Baloo"/>
                <a:ea typeface="Baloo"/>
                <a:cs typeface="Baloo"/>
                <a:sym typeface="Baloo"/>
              </a:rPr>
              <a:t>Vàng</a:t>
            </a:r>
            <a:r>
              <a:rPr lang="en-US" sz="6500" dirty="0">
                <a:solidFill>
                  <a:srgbClr val="D1951A"/>
                </a:solidFill>
                <a:latin typeface="Baloo"/>
                <a:ea typeface="Baloo"/>
                <a:cs typeface="Baloo"/>
                <a:sym typeface="Baloo"/>
              </a:rPr>
              <a:t>: T</a:t>
            </a:r>
          </a:p>
          <a:p>
            <a:pPr algn="l">
              <a:lnSpc>
                <a:spcPts val="9100"/>
              </a:lnSpc>
            </a:pPr>
            <a:r>
              <a:rPr lang="en-US" sz="6500" dirty="0" err="1">
                <a:solidFill>
                  <a:srgbClr val="2E03FF"/>
                </a:solidFill>
                <a:latin typeface="Baloo"/>
                <a:ea typeface="Baloo"/>
                <a:cs typeface="Baloo"/>
                <a:sym typeface="Baloo"/>
              </a:rPr>
              <a:t>Màu</a:t>
            </a:r>
            <a:r>
              <a:rPr lang="en-US" sz="6500" dirty="0">
                <a:solidFill>
                  <a:srgbClr val="2E03FF"/>
                </a:solidFill>
                <a:latin typeface="Baloo"/>
                <a:ea typeface="Baloo"/>
                <a:cs typeface="Baloo"/>
                <a:sym typeface="Baloo"/>
              </a:rPr>
              <a:t> </a:t>
            </a:r>
            <a:r>
              <a:rPr lang="en-US" sz="6500" dirty="0" err="1">
                <a:solidFill>
                  <a:srgbClr val="2E03FF"/>
                </a:solidFill>
                <a:latin typeface="Baloo"/>
                <a:ea typeface="Baloo"/>
                <a:cs typeface="Baloo"/>
                <a:sym typeface="Baloo"/>
              </a:rPr>
              <a:t>xanh</a:t>
            </a:r>
            <a:r>
              <a:rPr lang="en-US" sz="6500" dirty="0">
                <a:solidFill>
                  <a:srgbClr val="2E03FF"/>
                </a:solidFill>
                <a:latin typeface="Baloo"/>
                <a:ea typeface="Baloo"/>
                <a:cs typeface="Baloo"/>
                <a:sym typeface="Baloo"/>
              </a:rPr>
              <a:t> </a:t>
            </a:r>
            <a:r>
              <a:rPr lang="en-US" sz="6500" dirty="0" err="1">
                <a:solidFill>
                  <a:srgbClr val="2E03FF"/>
                </a:solidFill>
                <a:latin typeface="Baloo"/>
                <a:ea typeface="Baloo"/>
                <a:cs typeface="Baloo"/>
                <a:sym typeface="Baloo"/>
              </a:rPr>
              <a:t>dương</a:t>
            </a:r>
            <a:r>
              <a:rPr lang="en-US" sz="6500" dirty="0">
                <a:solidFill>
                  <a:srgbClr val="2E03FF"/>
                </a:solidFill>
                <a:latin typeface="Baloo"/>
                <a:ea typeface="Baloo"/>
                <a:cs typeface="Baloo"/>
                <a:sym typeface="Baloo"/>
              </a:rPr>
              <a:t>: G </a:t>
            </a:r>
          </a:p>
          <a:p>
            <a:pPr algn="l">
              <a:lnSpc>
                <a:spcPts val="9100"/>
              </a:lnSpc>
            </a:pPr>
            <a:r>
              <a:rPr lang="en-US" sz="6500" dirty="0" err="1">
                <a:solidFill>
                  <a:srgbClr val="009D3A"/>
                </a:solidFill>
                <a:latin typeface="Baloo"/>
                <a:ea typeface="Baloo"/>
                <a:cs typeface="Baloo"/>
                <a:sym typeface="Baloo"/>
              </a:rPr>
              <a:t>Màu</a:t>
            </a:r>
            <a:r>
              <a:rPr lang="en-US" sz="6500" dirty="0">
                <a:solidFill>
                  <a:srgbClr val="009D3A"/>
                </a:solidFill>
                <a:latin typeface="Baloo"/>
                <a:ea typeface="Baloo"/>
                <a:cs typeface="Baloo"/>
                <a:sym typeface="Baloo"/>
              </a:rPr>
              <a:t> </a:t>
            </a:r>
            <a:r>
              <a:rPr lang="en-US" sz="6500" dirty="0" err="1">
                <a:solidFill>
                  <a:srgbClr val="009D3A"/>
                </a:solidFill>
                <a:latin typeface="Baloo"/>
                <a:ea typeface="Baloo"/>
                <a:cs typeface="Baloo"/>
                <a:sym typeface="Baloo"/>
              </a:rPr>
              <a:t>xanh</a:t>
            </a:r>
            <a:r>
              <a:rPr lang="en-US" sz="6500" dirty="0">
                <a:solidFill>
                  <a:srgbClr val="009D3A"/>
                </a:solidFill>
                <a:latin typeface="Baloo"/>
                <a:ea typeface="Baloo"/>
                <a:cs typeface="Baloo"/>
                <a:sym typeface="Baloo"/>
              </a:rPr>
              <a:t> </a:t>
            </a:r>
            <a:r>
              <a:rPr lang="en-US" sz="6500" dirty="0" err="1">
                <a:solidFill>
                  <a:srgbClr val="009D3A"/>
                </a:solidFill>
                <a:latin typeface="Baloo"/>
                <a:ea typeface="Baloo"/>
                <a:cs typeface="Baloo"/>
                <a:sym typeface="Baloo"/>
              </a:rPr>
              <a:t>lá</a:t>
            </a:r>
            <a:r>
              <a:rPr lang="en-US" sz="6500" dirty="0">
                <a:solidFill>
                  <a:srgbClr val="009D3A"/>
                </a:solidFill>
                <a:latin typeface="Baloo"/>
                <a:ea typeface="Baloo"/>
                <a:cs typeface="Baloo"/>
                <a:sym typeface="Baloo"/>
              </a:rPr>
              <a:t>: C</a:t>
            </a:r>
          </a:p>
          <a:p>
            <a:pPr algn="l">
              <a:lnSpc>
                <a:spcPts val="9100"/>
              </a:lnSpc>
              <a:spcBef>
                <a:spcPct val="0"/>
              </a:spcBef>
            </a:pPr>
            <a:endParaRPr lang="en-US" sz="6500" dirty="0">
              <a:solidFill>
                <a:srgbClr val="009D3A"/>
              </a:solidFill>
              <a:latin typeface="Baloo"/>
              <a:ea typeface="Baloo"/>
              <a:cs typeface="Baloo"/>
              <a:sym typeface="Baloo"/>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3792045" y="447675"/>
            <a:ext cx="10703911" cy="1077218"/>
          </a:xfrm>
          <a:prstGeom prst="rect">
            <a:avLst/>
          </a:prstGeom>
        </p:spPr>
        <p:txBody>
          <a:bodyPr lIns="0" tIns="0" rIns="0" bIns="0" rtlCol="0" anchor="t">
            <a:spAutoFit/>
          </a:bodyPr>
          <a:lstStyle/>
          <a:p>
            <a:pPr marL="647700" lvl="1" algn="l">
              <a:lnSpc>
                <a:spcPts val="8400"/>
              </a:lnSpc>
              <a:spcBef>
                <a:spcPct val="0"/>
              </a:spcBef>
            </a:pPr>
            <a:r>
              <a:rPr lang="en-US" sz="6000">
                <a:gradFill>
                  <a:gsLst>
                    <a:gs pos="0">
                      <a:srgbClr val="0097B2">
                        <a:alpha val="100000"/>
                      </a:srgbClr>
                    </a:gs>
                    <a:gs pos="100000">
                      <a:srgbClr val="7ED957">
                        <a:alpha val="100000"/>
                      </a:srgbClr>
                    </a:gs>
                  </a:gsLst>
                  <a:lin ang="0"/>
                </a:gradFill>
                <a:latin typeface="Anton SC"/>
                <a:ea typeface="Anton SC"/>
                <a:cs typeface="Anton SC"/>
                <a:sym typeface="Anton SC"/>
              </a:rPr>
              <a:t>4. PHÂN TÍCH, Ý NGHĨA CỦA MÔ HÌNH</a:t>
            </a:r>
          </a:p>
        </p:txBody>
      </p:sp>
      <p:sp>
        <p:nvSpPr>
          <p:cNvPr id="6" name="TextBox 6"/>
          <p:cNvSpPr txBox="1"/>
          <p:nvPr/>
        </p:nvSpPr>
        <p:spPr>
          <a:xfrm>
            <a:off x="1710894" y="2417853"/>
            <a:ext cx="2877074" cy="927100"/>
          </a:xfrm>
          <a:prstGeom prst="rect">
            <a:avLst/>
          </a:prstGeom>
        </p:spPr>
        <p:txBody>
          <a:bodyPr lIns="0" tIns="0" rIns="0" bIns="0" rtlCol="0" anchor="t">
            <a:spAutoFit/>
          </a:bodyPr>
          <a:lstStyle/>
          <a:p>
            <a:pPr algn="l">
              <a:lnSpc>
                <a:spcPts val="7699"/>
              </a:lnSpc>
              <a:spcBef>
                <a:spcPct val="0"/>
              </a:spcBef>
            </a:pPr>
            <a:r>
              <a:rPr lang="en-US" sz="5499">
                <a:solidFill>
                  <a:srgbClr val="FF0000"/>
                </a:solidFill>
                <a:latin typeface="Anton SC"/>
                <a:ea typeface="Anton SC"/>
                <a:cs typeface="Anton SC"/>
                <a:sym typeface="Anton SC"/>
              </a:rPr>
              <a:t>Ý NGHĨA</a:t>
            </a:r>
          </a:p>
        </p:txBody>
      </p:sp>
      <p:sp>
        <p:nvSpPr>
          <p:cNvPr id="7" name="TextBox 7"/>
          <p:cNvSpPr txBox="1"/>
          <p:nvPr/>
        </p:nvSpPr>
        <p:spPr>
          <a:xfrm>
            <a:off x="2829231" y="3478303"/>
            <a:ext cx="14430069" cy="9202420"/>
          </a:xfrm>
          <a:prstGeom prst="rect">
            <a:avLst/>
          </a:prstGeom>
        </p:spPr>
        <p:txBody>
          <a:bodyPr lIns="0" tIns="0" rIns="0" bIns="0" rtlCol="0" anchor="t">
            <a:spAutoFit/>
          </a:bodyPr>
          <a:lstStyle/>
          <a:p>
            <a:pPr algn="l">
              <a:lnSpc>
                <a:spcPts val="7279"/>
              </a:lnSpc>
            </a:pPr>
            <a:r>
              <a:rPr lang="en-US" sz="5199" dirty="0" err="1">
                <a:gradFill>
                  <a:gsLst>
                    <a:gs pos="0">
                      <a:srgbClr val="8C52FF">
                        <a:alpha val="100000"/>
                      </a:srgbClr>
                    </a:gs>
                    <a:gs pos="100000">
                      <a:srgbClr val="FF914D">
                        <a:alpha val="100000"/>
                      </a:srgbClr>
                    </a:gs>
                  </a:gsLst>
                  <a:lin ang="0"/>
                </a:gradFill>
                <a:latin typeface="Baloo"/>
                <a:ea typeface="Baloo"/>
                <a:cs typeface="Baloo"/>
                <a:sym typeface="Baloo"/>
              </a:rPr>
              <a:t>Mô</a:t>
            </a:r>
            <a:r>
              <a:rPr lang="en-US" sz="5199" dirty="0">
                <a:gradFill>
                  <a:gsLst>
                    <a:gs pos="0">
                      <a:srgbClr val="8C52FF">
                        <a:alpha val="100000"/>
                      </a:srgbClr>
                    </a:gs>
                    <a:gs pos="100000">
                      <a:srgbClr val="FF914D">
                        <a:alpha val="100000"/>
                      </a:srgbClr>
                    </a:gs>
                  </a:gsLst>
                  <a:lin ang="0"/>
                </a:gradFill>
                <a:latin typeface="Baloo"/>
                <a:ea typeface="Baloo"/>
                <a:cs typeface="Baloo"/>
                <a:sym typeface="Baloo"/>
              </a:rPr>
              <a:t> </a:t>
            </a:r>
            <a:r>
              <a:rPr lang="en-US" sz="5199" dirty="0" err="1">
                <a:gradFill>
                  <a:gsLst>
                    <a:gs pos="0">
                      <a:srgbClr val="8C52FF">
                        <a:alpha val="100000"/>
                      </a:srgbClr>
                    </a:gs>
                    <a:gs pos="100000">
                      <a:srgbClr val="FF914D">
                        <a:alpha val="100000"/>
                      </a:srgbClr>
                    </a:gs>
                  </a:gsLst>
                  <a:lin ang="0"/>
                </a:gradFill>
                <a:latin typeface="Baloo"/>
                <a:ea typeface="Baloo"/>
                <a:cs typeface="Baloo"/>
                <a:sym typeface="Baloo"/>
              </a:rPr>
              <a:t>hình</a:t>
            </a:r>
            <a:r>
              <a:rPr lang="en-US" sz="5199" dirty="0">
                <a:gradFill>
                  <a:gsLst>
                    <a:gs pos="0">
                      <a:srgbClr val="8C52FF">
                        <a:alpha val="100000"/>
                      </a:srgbClr>
                    </a:gs>
                    <a:gs pos="100000">
                      <a:srgbClr val="FF914D">
                        <a:alpha val="100000"/>
                      </a:srgbClr>
                    </a:gs>
                  </a:gsLst>
                  <a:lin ang="0"/>
                </a:gradFill>
                <a:latin typeface="Baloo"/>
                <a:ea typeface="Baloo"/>
                <a:cs typeface="Baloo"/>
                <a:sym typeface="Baloo"/>
              </a:rPr>
              <a:t> DNA</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giúp</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chúng</a:t>
            </a:r>
            <a:r>
              <a:rPr lang="en-US" sz="5199" dirty="0">
                <a:solidFill>
                  <a:srgbClr val="2E2E30"/>
                </a:solidFill>
                <a:latin typeface="Baloo"/>
                <a:ea typeface="Baloo"/>
                <a:cs typeface="Baloo"/>
                <a:sym typeface="Baloo"/>
              </a:rPr>
              <a:t> ta </a:t>
            </a:r>
            <a:r>
              <a:rPr lang="en-US" sz="5199" dirty="0" err="1">
                <a:solidFill>
                  <a:srgbClr val="2E2E30"/>
                </a:solidFill>
                <a:latin typeface="Baloo"/>
                <a:ea typeface="Baloo"/>
                <a:cs typeface="Baloo"/>
                <a:sym typeface="Baloo"/>
              </a:rPr>
              <a:t>trực</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quan</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hóa</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cấu</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trúc</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xoắn</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kép</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của</a:t>
            </a:r>
            <a:r>
              <a:rPr lang="en-US" sz="5199" dirty="0">
                <a:solidFill>
                  <a:srgbClr val="2E2E30"/>
                </a:solidFill>
                <a:latin typeface="Baloo"/>
                <a:ea typeface="Baloo"/>
                <a:cs typeface="Baloo"/>
                <a:sym typeface="Baloo"/>
              </a:rPr>
              <a:t> DNA, </a:t>
            </a:r>
            <a:r>
              <a:rPr lang="en-US" sz="5199" dirty="0" err="1">
                <a:solidFill>
                  <a:srgbClr val="2E2E30"/>
                </a:solidFill>
                <a:latin typeface="Baloo"/>
                <a:ea typeface="Baloo"/>
                <a:cs typeface="Baloo"/>
                <a:sym typeface="Baloo"/>
              </a:rPr>
              <a:t>hiểu</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rõ</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hơn</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về</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vật</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chất</a:t>
            </a:r>
            <a:r>
              <a:rPr lang="en-US" sz="5199" dirty="0">
                <a:solidFill>
                  <a:srgbClr val="2E2E30"/>
                </a:solidFill>
                <a:latin typeface="Baloo"/>
                <a:ea typeface="Baloo"/>
                <a:cs typeface="Baloo"/>
                <a:sym typeface="Baloo"/>
              </a:rPr>
              <a:t> di </a:t>
            </a:r>
            <a:r>
              <a:rPr lang="en-US" sz="5199" dirty="0" err="1">
                <a:solidFill>
                  <a:srgbClr val="2E2E30"/>
                </a:solidFill>
                <a:latin typeface="Baloo"/>
                <a:ea typeface="Baloo"/>
                <a:cs typeface="Baloo"/>
                <a:sym typeface="Baloo"/>
              </a:rPr>
              <a:t>truyền</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mang</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thông</a:t>
            </a:r>
            <a:r>
              <a:rPr lang="en-US" sz="5199" dirty="0">
                <a:solidFill>
                  <a:srgbClr val="2E2E30"/>
                </a:solidFill>
                <a:latin typeface="Baloo"/>
                <a:ea typeface="Baloo"/>
                <a:cs typeface="Baloo"/>
                <a:sym typeface="Baloo"/>
              </a:rPr>
              <a:t> tin </a:t>
            </a:r>
            <a:r>
              <a:rPr lang="en-US" sz="5199" dirty="0" err="1">
                <a:solidFill>
                  <a:srgbClr val="2E2E30"/>
                </a:solidFill>
                <a:latin typeface="Baloo"/>
                <a:ea typeface="Baloo"/>
                <a:cs typeface="Baloo"/>
                <a:sym typeface="Baloo"/>
              </a:rPr>
              <a:t>quy</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định</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đặc</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điểm</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của</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sinh</a:t>
            </a:r>
            <a:r>
              <a:rPr lang="en-US" sz="5199" dirty="0">
                <a:solidFill>
                  <a:srgbClr val="2E2E30"/>
                </a:solidFill>
                <a:latin typeface="Baloo"/>
                <a:ea typeface="Baloo"/>
                <a:cs typeface="Baloo"/>
                <a:sym typeface="Baloo"/>
              </a:rPr>
              <a:t> </a:t>
            </a:r>
            <a:r>
              <a:rPr lang="en-US" sz="5199" dirty="0" err="1">
                <a:solidFill>
                  <a:srgbClr val="2E2E30"/>
                </a:solidFill>
                <a:latin typeface="Baloo"/>
                <a:ea typeface="Baloo"/>
                <a:cs typeface="Baloo"/>
                <a:sym typeface="Baloo"/>
              </a:rPr>
              <a:t>vật</a:t>
            </a:r>
            <a:r>
              <a:rPr lang="en-US" sz="5199" dirty="0">
                <a:solidFill>
                  <a:srgbClr val="2E2E30"/>
                </a:solidFill>
                <a:latin typeface="Baloo"/>
                <a:ea typeface="Baloo"/>
                <a:cs typeface="Baloo"/>
                <a:sym typeface="Baloo"/>
              </a:rPr>
              <a:t>. </a:t>
            </a:r>
          </a:p>
          <a:p>
            <a:pPr algn="l">
              <a:lnSpc>
                <a:spcPts val="7279"/>
              </a:lnSpc>
            </a:pP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👉Qua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đó</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chúng</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em</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vận</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dụng</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kiến</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thức</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vào</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thực</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tế</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phát</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triển</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tư</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duy</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sáng</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tạo</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và</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thêm</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yêu</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thích</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môn</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 Sinh </a:t>
            </a:r>
            <a:r>
              <a:rPr lang="en-US" sz="5199" dirty="0" err="1">
                <a:gradFill>
                  <a:gsLst>
                    <a:gs pos="0">
                      <a:srgbClr val="5170FF">
                        <a:alpha val="100000"/>
                      </a:srgbClr>
                    </a:gs>
                    <a:gs pos="100000">
                      <a:srgbClr val="FF66C4">
                        <a:alpha val="100000"/>
                      </a:srgbClr>
                    </a:gs>
                  </a:gsLst>
                  <a:lin ang="0"/>
                </a:gradFill>
                <a:latin typeface="Baloo"/>
                <a:ea typeface="Baloo"/>
                <a:cs typeface="Baloo"/>
                <a:sym typeface="Baloo"/>
              </a:rPr>
              <a:t>học</a:t>
            </a:r>
            <a:r>
              <a:rPr lang="en-US" sz="5199" dirty="0">
                <a:gradFill>
                  <a:gsLst>
                    <a:gs pos="0">
                      <a:srgbClr val="5170FF">
                        <a:alpha val="100000"/>
                      </a:srgbClr>
                    </a:gs>
                    <a:gs pos="100000">
                      <a:srgbClr val="FF66C4">
                        <a:alpha val="100000"/>
                      </a:srgbClr>
                    </a:gs>
                  </a:gsLst>
                  <a:lin ang="0"/>
                </a:gradFill>
                <a:latin typeface="Baloo"/>
                <a:ea typeface="Baloo"/>
                <a:cs typeface="Baloo"/>
                <a:sym typeface="Baloo"/>
              </a:rPr>
              <a:t>.</a:t>
            </a:r>
          </a:p>
          <a:p>
            <a:pPr algn="l">
              <a:lnSpc>
                <a:spcPts val="7279"/>
              </a:lnSpc>
            </a:pPr>
            <a:endParaRPr lang="en-US" sz="5199" dirty="0">
              <a:gradFill>
                <a:gsLst>
                  <a:gs pos="0">
                    <a:srgbClr val="5170FF">
                      <a:alpha val="100000"/>
                    </a:srgbClr>
                  </a:gs>
                  <a:gs pos="100000">
                    <a:srgbClr val="FF66C4">
                      <a:alpha val="100000"/>
                    </a:srgbClr>
                  </a:gs>
                </a:gsLst>
                <a:lin ang="0"/>
              </a:gradFill>
              <a:latin typeface="Baloo"/>
              <a:ea typeface="Baloo"/>
              <a:cs typeface="Baloo"/>
              <a:sym typeface="Baloo"/>
            </a:endParaRPr>
          </a:p>
          <a:p>
            <a:pPr algn="l">
              <a:lnSpc>
                <a:spcPts val="7279"/>
              </a:lnSpc>
            </a:pPr>
            <a:endParaRPr lang="en-US" sz="5199" dirty="0">
              <a:gradFill>
                <a:gsLst>
                  <a:gs pos="0">
                    <a:srgbClr val="5170FF">
                      <a:alpha val="100000"/>
                    </a:srgbClr>
                  </a:gs>
                  <a:gs pos="100000">
                    <a:srgbClr val="FF66C4">
                      <a:alpha val="100000"/>
                    </a:srgbClr>
                  </a:gs>
                </a:gsLst>
                <a:lin ang="0"/>
              </a:gradFill>
              <a:latin typeface="Baloo"/>
              <a:ea typeface="Baloo"/>
              <a:cs typeface="Baloo"/>
              <a:sym typeface="Baloo"/>
            </a:endParaRPr>
          </a:p>
          <a:p>
            <a:pPr algn="l">
              <a:lnSpc>
                <a:spcPts val="7279"/>
              </a:lnSpc>
              <a:spcBef>
                <a:spcPct val="0"/>
              </a:spcBef>
            </a:pPr>
            <a:endParaRPr lang="en-US" sz="5199" dirty="0">
              <a:gradFill>
                <a:gsLst>
                  <a:gs pos="0">
                    <a:srgbClr val="5170FF">
                      <a:alpha val="100000"/>
                    </a:srgbClr>
                  </a:gs>
                  <a:gs pos="100000">
                    <a:srgbClr val="FF66C4">
                      <a:alpha val="100000"/>
                    </a:srgbClr>
                  </a:gs>
                </a:gsLst>
                <a:lin ang="0"/>
              </a:gradFill>
              <a:latin typeface="Baloo"/>
              <a:ea typeface="Baloo"/>
              <a:cs typeface="Baloo"/>
              <a:sym typeface="Baloo"/>
            </a:endParaRP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295129" y="447675"/>
            <a:ext cx="9789511" cy="1038225"/>
          </a:xfrm>
          <a:prstGeom prst="rect">
            <a:avLst/>
          </a:prstGeom>
        </p:spPr>
        <p:txBody>
          <a:bodyPr lIns="0" tIns="0" rIns="0" bIns="0" rtlCol="0" anchor="t">
            <a:spAutoFit/>
          </a:bodyPr>
          <a:lstStyle/>
          <a:p>
            <a:pPr marL="647700" lvl="1" algn="l">
              <a:lnSpc>
                <a:spcPts val="8400"/>
              </a:lnSpc>
              <a:spcBef>
                <a:spcPct val="0"/>
              </a:spcBef>
            </a:pPr>
            <a:r>
              <a:rPr lang="en-US" sz="6000">
                <a:gradFill>
                  <a:gsLst>
                    <a:gs pos="0">
                      <a:srgbClr val="FF5757">
                        <a:alpha val="100000"/>
                      </a:srgbClr>
                    </a:gs>
                    <a:gs pos="100000">
                      <a:srgbClr val="8C52FF">
                        <a:alpha val="100000"/>
                      </a:srgbClr>
                    </a:gs>
                  </a:gsLst>
                  <a:lin ang="0"/>
                </a:gradFill>
                <a:latin typeface="Anton SC"/>
                <a:ea typeface="Anton SC"/>
                <a:cs typeface="Anton SC"/>
                <a:sym typeface="Anton SC"/>
              </a:rPr>
              <a:t>5. ĐÁNH GIÁ CỦA NHÓM</a:t>
            </a:r>
          </a:p>
        </p:txBody>
      </p:sp>
      <p:sp>
        <p:nvSpPr>
          <p:cNvPr id="6" name="TextBox 6"/>
          <p:cNvSpPr txBox="1"/>
          <p:nvPr/>
        </p:nvSpPr>
        <p:spPr>
          <a:xfrm>
            <a:off x="2299561" y="2979308"/>
            <a:ext cx="14430069" cy="5570855"/>
          </a:xfrm>
          <a:prstGeom prst="rect">
            <a:avLst/>
          </a:prstGeom>
        </p:spPr>
        <p:txBody>
          <a:bodyPr lIns="0" tIns="0" rIns="0" bIns="0" rtlCol="0" anchor="t">
            <a:spAutoFit/>
          </a:bodyPr>
          <a:lstStyle/>
          <a:p>
            <a:pPr algn="l">
              <a:lnSpc>
                <a:spcPts val="7420"/>
              </a:lnSpc>
            </a:pPr>
            <a:r>
              <a:rPr lang="en-US" sz="5300" dirty="0">
                <a:solidFill>
                  <a:srgbClr val="2E2E30"/>
                </a:solidFill>
                <a:latin typeface="Baloo"/>
                <a:ea typeface="Baloo"/>
                <a:cs typeface="Baloo"/>
                <a:sym typeface="Baloo"/>
              </a:rPr>
              <a:t>Qua </a:t>
            </a:r>
            <a:r>
              <a:rPr lang="en-US" sz="5300" dirty="0" err="1">
                <a:solidFill>
                  <a:srgbClr val="2E2E30"/>
                </a:solidFill>
                <a:latin typeface="Baloo"/>
                <a:ea typeface="Baloo"/>
                <a:cs typeface="Baloo"/>
                <a:sym typeface="Baloo"/>
              </a:rPr>
              <a:t>quá</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trình</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thực</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hiện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bọn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em</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nhận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thấy</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làm</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mô</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hình</a:t>
            </a:r>
            <a:r>
              <a:rPr lang="en-US" sz="5300" dirty="0">
                <a:solidFill>
                  <a:srgbClr val="2E2E30"/>
                </a:solidFill>
                <a:latin typeface="Baloo"/>
                <a:ea typeface="Baloo"/>
                <a:cs typeface="Baloo"/>
                <a:sym typeface="Baloo"/>
              </a:rPr>
              <a:t> DNA </a:t>
            </a:r>
            <a:r>
              <a:rPr lang="en-US" sz="5300" dirty="0" err="1">
                <a:solidFill>
                  <a:srgbClr val="2E2E30"/>
                </a:solidFill>
                <a:latin typeface="Baloo"/>
                <a:ea typeface="Baloo"/>
                <a:cs typeface="Baloo"/>
                <a:sym typeface="Baloo"/>
              </a:rPr>
              <a:t>không</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quá</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khó</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nhưng</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lại</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mang</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đến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nhiều</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kiến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thức</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bổ</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ích</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Đây</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không</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chỉ</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là</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cơ</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hội</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để</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vận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dụng</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kiến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thức</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đã</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học</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mà</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còn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giúp</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bọn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em</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hiểu</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bài</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sâu</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hơn</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và</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cảm</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thấy</a:t>
            </a:r>
            <a:r>
              <a:rPr lang="en-US" sz="5300" dirty="0">
                <a:solidFill>
                  <a:srgbClr val="2E2E30"/>
                </a:solidFill>
                <a:latin typeface="Baloo"/>
                <a:ea typeface="Baloo"/>
                <a:cs typeface="Baloo"/>
                <a:sym typeface="Baloo"/>
              </a:rPr>
              <a:t> Sinh </a:t>
            </a:r>
            <a:r>
              <a:rPr lang="en-US" sz="5300" dirty="0" err="1">
                <a:solidFill>
                  <a:srgbClr val="2E2E30"/>
                </a:solidFill>
                <a:latin typeface="Baloo"/>
                <a:ea typeface="Baloo"/>
                <a:cs typeface="Baloo"/>
                <a:sym typeface="Baloo"/>
              </a:rPr>
              <a:t>học</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thú</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vị</a:t>
            </a:r>
            <a:r>
              <a:rPr lang="en-US" sz="5300" dirty="0">
                <a:solidFill>
                  <a:srgbClr val="2E2E30"/>
                </a:solidFill>
                <a:latin typeface="Baloo"/>
                <a:ea typeface="Baloo"/>
                <a:cs typeface="Baloo"/>
                <a:sym typeface="Baloo"/>
              </a:rPr>
              <a:t> </a:t>
            </a:r>
            <a:r>
              <a:rPr lang="en-US" sz="5300" dirty="0" err="1">
                <a:solidFill>
                  <a:srgbClr val="2E2E30"/>
                </a:solidFill>
                <a:latin typeface="Baloo"/>
                <a:ea typeface="Baloo"/>
                <a:cs typeface="Baloo"/>
                <a:sym typeface="Baloo"/>
              </a:rPr>
              <a:t>hơn</a:t>
            </a:r>
            <a:r>
              <a:rPr lang="en-US" sz="5300" dirty="0">
                <a:solidFill>
                  <a:srgbClr val="2E2E30"/>
                </a:solidFill>
                <a:latin typeface="Baloo"/>
                <a:ea typeface="Baloo"/>
                <a:cs typeface="Baloo"/>
                <a:sym typeface="Baloo"/>
              </a:rPr>
              <a:t>.</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2" name="AutoShape 2"/>
          <p:cNvSpPr/>
          <p:nvPr/>
        </p:nvSpPr>
        <p:spPr>
          <a:xfrm flipV="1">
            <a:off x="0" y="1714500"/>
            <a:ext cx="17586880" cy="190000"/>
          </a:xfrm>
          <a:prstGeom prst="line">
            <a:avLst/>
          </a:prstGeom>
          <a:ln w="9525" cap="flat">
            <a:solidFill>
              <a:srgbClr val="000000"/>
            </a:solidFill>
            <a:prstDash val="solid"/>
            <a:headEnd type="none" w="sm" len="sm"/>
            <a:tailEnd type="none" w="sm" len="sm"/>
          </a:ln>
        </p:spPr>
        <p:txBody>
          <a:bodyPr/>
          <a:lstStyle/>
          <a:p>
            <a:endParaRPr lang="en-US"/>
          </a:p>
        </p:txBody>
      </p:sp>
      <p:pic>
        <p:nvPicPr>
          <p:cNvPr id="3" name="Picture 3"/>
          <p:cNvPicPr>
            <a:picLocks noChangeAspect="1"/>
          </p:cNvPicPr>
          <p:nvPr/>
        </p:nvPicPr>
        <p:blipFill>
          <a:blip r:embed="rId2"/>
          <a:srcRect/>
          <a:stretch>
            <a:fillRect/>
          </a:stretch>
        </p:blipFill>
        <p:spPr>
          <a:xfrm>
            <a:off x="16729630" y="0"/>
            <a:ext cx="1714500" cy="1714500"/>
          </a:xfrm>
          <a:prstGeom prst="rect">
            <a:avLst/>
          </a:prstGeom>
        </p:spPr>
      </p:pic>
      <p:pic>
        <p:nvPicPr>
          <p:cNvPr id="4" name="Picture 4"/>
          <p:cNvPicPr>
            <a:picLocks noChangeAspect="1"/>
          </p:cNvPicPr>
          <p:nvPr/>
        </p:nvPicPr>
        <p:blipFill>
          <a:blip r:embed="rId3"/>
          <a:srcRect/>
          <a:stretch>
            <a:fillRect/>
          </a:stretch>
        </p:blipFill>
        <p:spPr>
          <a:xfrm>
            <a:off x="326557" y="8781304"/>
            <a:ext cx="1098588" cy="1381871"/>
          </a:xfrm>
          <a:prstGeom prst="rect">
            <a:avLst/>
          </a:prstGeom>
        </p:spPr>
      </p:pic>
      <p:sp>
        <p:nvSpPr>
          <p:cNvPr id="5" name="TextBox 5"/>
          <p:cNvSpPr txBox="1"/>
          <p:nvPr/>
        </p:nvSpPr>
        <p:spPr>
          <a:xfrm>
            <a:off x="5095104" y="447675"/>
            <a:ext cx="9789511" cy="1038225"/>
          </a:xfrm>
          <a:prstGeom prst="rect">
            <a:avLst/>
          </a:prstGeom>
        </p:spPr>
        <p:txBody>
          <a:bodyPr lIns="0" tIns="0" rIns="0" bIns="0" rtlCol="0" anchor="t">
            <a:spAutoFit/>
          </a:bodyPr>
          <a:lstStyle/>
          <a:p>
            <a:pPr marL="1295400" lvl="1" indent="-647700" algn="l">
              <a:lnSpc>
                <a:spcPts val="8400"/>
              </a:lnSpc>
              <a:spcBef>
                <a:spcPct val="0"/>
              </a:spcBef>
              <a:buAutoNum type="arabicPeriod"/>
            </a:pPr>
            <a:r>
              <a:rPr lang="en-US" sz="6000">
                <a:gradFill>
                  <a:gsLst>
                    <a:gs pos="0">
                      <a:srgbClr val="FF3131">
                        <a:alpha val="100000"/>
                      </a:srgbClr>
                    </a:gs>
                    <a:gs pos="100000">
                      <a:srgbClr val="FF914D">
                        <a:alpha val="100000"/>
                      </a:srgbClr>
                    </a:gs>
                  </a:gsLst>
                  <a:lin ang="0"/>
                </a:gradFill>
                <a:latin typeface="Anton SC"/>
                <a:ea typeface="Anton SC"/>
                <a:cs typeface="Anton SC"/>
                <a:sym typeface="Anton SC"/>
              </a:rPr>
              <a:t>ĐÁNH GIÁ CỦA NHÓM</a:t>
            </a:r>
          </a:p>
        </p:txBody>
      </p:sp>
      <p:sp>
        <p:nvSpPr>
          <p:cNvPr id="6" name="TextBox 6"/>
          <p:cNvSpPr txBox="1"/>
          <p:nvPr/>
        </p:nvSpPr>
        <p:spPr>
          <a:xfrm>
            <a:off x="2299561" y="2979308"/>
            <a:ext cx="14430069" cy="5570855"/>
          </a:xfrm>
          <a:prstGeom prst="rect">
            <a:avLst/>
          </a:prstGeom>
        </p:spPr>
        <p:txBody>
          <a:bodyPr lIns="0" tIns="0" rIns="0" bIns="0" rtlCol="0" anchor="t">
            <a:spAutoFit/>
          </a:bodyPr>
          <a:lstStyle/>
          <a:p>
            <a:pPr algn="l">
              <a:lnSpc>
                <a:spcPts val="7420"/>
              </a:lnSpc>
            </a:pPr>
            <a:r>
              <a:rPr lang="en-US" sz="5300">
                <a:solidFill>
                  <a:srgbClr val="2E2E30"/>
                </a:solidFill>
                <a:latin typeface="Baloo"/>
                <a:ea typeface="Baloo"/>
                <a:cs typeface="Baloo"/>
                <a:sym typeface="Baloo"/>
              </a:rPr>
              <a:t>Qua quá trình thực hiện, bọn em nhận thấy làm mô hình DNA không quá khó, nhưng lại mang đến nhiều kiến thức bổ ích. Đây không chỉ là cơ hội để vận dụng kiến thức đã học mà còn giúp bọn em hiểu bài sâu hơn và cảm thấy Sinh học thú vị hơn.</a:t>
            </a:r>
          </a:p>
        </p:txBody>
      </p:sp>
      <p:sp>
        <p:nvSpPr>
          <p:cNvPr id="7" name="Freeform 7"/>
          <p:cNvSpPr/>
          <p:nvPr/>
        </p:nvSpPr>
        <p:spPr>
          <a:xfrm>
            <a:off x="0" y="0"/>
            <a:ext cx="18067867" cy="10163175"/>
          </a:xfrm>
          <a:custGeom>
            <a:avLst/>
            <a:gdLst/>
            <a:ahLst/>
            <a:cxnLst/>
            <a:rect l="l" t="t" r="r" b="b"/>
            <a:pathLst>
              <a:path w="18067867" h="10163175">
                <a:moveTo>
                  <a:pt x="0" y="0"/>
                </a:moveTo>
                <a:lnTo>
                  <a:pt x="18067867" y="0"/>
                </a:lnTo>
                <a:lnTo>
                  <a:pt x="18067867" y="10163175"/>
                </a:lnTo>
                <a:lnTo>
                  <a:pt x="0" y="10163175"/>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1132279" y="2621133"/>
            <a:ext cx="16127021" cy="4895850"/>
          </a:xfrm>
          <a:prstGeom prst="rect">
            <a:avLst/>
          </a:prstGeom>
        </p:spPr>
        <p:txBody>
          <a:bodyPr lIns="0" tIns="0" rIns="0" bIns="0" rtlCol="0" anchor="t">
            <a:spAutoFit/>
          </a:bodyPr>
          <a:lstStyle/>
          <a:p>
            <a:pPr algn="l">
              <a:lnSpc>
                <a:spcPts val="39900"/>
              </a:lnSpc>
            </a:pPr>
            <a:r>
              <a:rPr lang="en-US" sz="28500" spc="854" dirty="0">
                <a:gradFill>
                  <a:gsLst>
                    <a:gs pos="0">
                      <a:srgbClr val="8C52FF">
                        <a:alpha val="80000"/>
                      </a:srgbClr>
                    </a:gs>
                    <a:gs pos="100000">
                      <a:srgbClr val="5CE1E6">
                        <a:alpha val="80000"/>
                      </a:srgbClr>
                    </a:gs>
                  </a:gsLst>
                  <a:lin ang="0"/>
                </a:gradFill>
                <a:latin typeface="Anton"/>
                <a:ea typeface="Anton"/>
                <a:cs typeface="Anton"/>
                <a:sym typeface="Anton"/>
              </a:rPr>
              <a:t>THANK YOU</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513</Words>
  <Application>Microsoft Office PowerPoint</Application>
  <PresentationFormat>Tùy chỉnh</PresentationFormat>
  <Paragraphs>62</Paragraphs>
  <Slides>16</Slides>
  <Notes>0</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16</vt:i4>
      </vt:variant>
    </vt:vector>
  </HeadingPairs>
  <TitlesOfParts>
    <vt:vector size="24" baseType="lpstr">
      <vt:lpstr>Agrandir Grand Bold</vt:lpstr>
      <vt:lpstr>Anton</vt:lpstr>
      <vt:lpstr>Agrandir Grand Medium</vt:lpstr>
      <vt:lpstr>Arial</vt:lpstr>
      <vt:lpstr>Anton SC</vt:lpstr>
      <vt:lpstr>Calibri</vt:lpstr>
      <vt:lpstr>Baloo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NHOM8-912-DNARNA</dc:title>
  <dc:creator>Admin</dc:creator>
  <cp:lastModifiedBy>Admin</cp:lastModifiedBy>
  <cp:revision>3</cp:revision>
  <dcterms:created xsi:type="dcterms:W3CDTF">2006-08-16T00:00:00Z</dcterms:created>
  <dcterms:modified xsi:type="dcterms:W3CDTF">2026-10-15T15:41:32Z</dcterms:modified>
  <dc:identifier>DAHYFmliNS8</dc:identifier>
</cp:coreProperties>
</file>